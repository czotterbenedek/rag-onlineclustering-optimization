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81" r:id="rId4"/>
    <p:sldId id="258" r:id="rId5"/>
    <p:sldId id="259" r:id="rId6"/>
    <p:sldId id="263" r:id="rId7"/>
    <p:sldId id="262" r:id="rId8"/>
    <p:sldId id="261" r:id="rId9"/>
    <p:sldId id="264" r:id="rId10"/>
    <p:sldId id="271" r:id="rId11"/>
    <p:sldId id="273" r:id="rId12"/>
    <p:sldId id="265" r:id="rId13"/>
    <p:sldId id="274" r:id="rId14"/>
    <p:sldId id="266" r:id="rId15"/>
    <p:sldId id="275" r:id="rId16"/>
    <p:sldId id="267" r:id="rId17"/>
    <p:sldId id="272" r:id="rId18"/>
    <p:sldId id="270" r:id="rId19"/>
    <p:sldId id="276" r:id="rId20"/>
    <p:sldId id="277" r:id="rId21"/>
    <p:sldId id="278" r:id="rId22"/>
    <p:sldId id="279" r:id="rId23"/>
    <p:sldId id="282" r:id="rId24"/>
    <p:sldId id="289" r:id="rId25"/>
    <p:sldId id="283" r:id="rId26"/>
    <p:sldId id="290" r:id="rId27"/>
    <p:sldId id="284" r:id="rId28"/>
    <p:sldId id="285" r:id="rId29"/>
    <p:sldId id="291" r:id="rId30"/>
    <p:sldId id="292" r:id="rId31"/>
    <p:sldId id="286" r:id="rId32"/>
    <p:sldId id="287" r:id="rId33"/>
    <p:sldId id="288" r:id="rId34"/>
    <p:sldId id="260" r:id="rId3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053" autoAdjust="0"/>
    <p:restoredTop sz="66766" autoAdjust="0"/>
  </p:normalViewPr>
  <p:slideViewPr>
    <p:cSldViewPr snapToGrid="0">
      <p:cViewPr varScale="1">
        <p:scale>
          <a:sx n="75" d="100"/>
          <a:sy n="75" d="100"/>
        </p:scale>
        <p:origin x="12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</a:p>
          <a:p>
            <a:endParaRPr lang="hu-HU" sz="2400" dirty="0"/>
          </a:p>
          <a:p>
            <a:r>
              <a:rPr lang="hu-HU" sz="2400" dirty="0"/>
              <a:t>TODO: félkövér betűk a </a:t>
            </a:r>
            <a:r>
              <a:rPr lang="hu-HU" sz="2400" dirty="0" err="1"/>
              <a:t>flowchartokon</a:t>
            </a:r>
            <a:r>
              <a:rPr lang="hu-HU" sz="2400" dirty="0"/>
              <a:t>!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Olyan </a:t>
            </a:r>
            <a:r>
              <a:rPr lang="hu-HU" dirty="0" err="1"/>
              <a:t>klaszterezés</a:t>
            </a:r>
            <a:r>
              <a:rPr lang="hu-HU" dirty="0"/>
              <a:t>-alapú </a:t>
            </a:r>
            <a:r>
              <a:rPr lang="hu-HU" dirty="0" err="1"/>
              <a:t>retrieval</a:t>
            </a:r>
            <a:r>
              <a:rPr lang="hu-HU" dirty="0"/>
              <a:t> megközelítés kidolgozása, amely gyors, hatékony és lehetővé teszi új dokumentumok zökkenőmentes integrálását a tudásbázisba.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76145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  <a:p>
            <a:endParaRPr lang="hu-HU" dirty="0"/>
          </a:p>
          <a:p>
            <a:r>
              <a:rPr lang="hu-HU" dirty="0"/>
              <a:t>Koszinusz </a:t>
            </a:r>
            <a:r>
              <a:rPr lang="hu-HU" dirty="0" err="1"/>
              <a:t>vs</a:t>
            </a:r>
            <a:r>
              <a:rPr lang="hu-HU" dirty="0"/>
              <a:t> euklideszi:</a:t>
            </a:r>
          </a:p>
          <a:p>
            <a:r>
              <a:rPr lang="hu-HU" dirty="0"/>
              <a:t>A koszinusz hasonlóság a vektorok iránya (szöge) alapján mér, míg az euklideszi távolság a köztük lévő tényleges távolságot nézi, de normalizált adatokon mindkettő ugyanazt a találati rangsort adja. A döntő különbség a számítási hatékonyság, mivel a koszinusz hasonlóság egy gyorsabb skaláris szorzattá egyszerűsödik, míg az euklideszi távolság számítása többletmunkát igényel. Ezenkívül a koszinusz hasonlóság (-1-től 1-ig terjedő skálája) gyakran intuitívabb és eltérő küszöbértékeket igényel, mint az euklideszi távolság (0-tól 2-ig terjedő skálája).</a:t>
            </a:r>
          </a:p>
          <a:p>
            <a:r>
              <a:rPr lang="hu-HU" dirty="0"/>
              <a:t>L2 normalizált vektorok esetén (hosszuk 1) a két metrika átváltható egymásba, tökéletesen ugyanazt az eredményt adják.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</a:t>
            </a:r>
            <a:r>
              <a:rPr lang="hu-HU" b="1" dirty="0"/>
              <a:t>súlyozott</a:t>
            </a:r>
            <a:r>
              <a:rPr lang="hu-HU" dirty="0"/>
              <a:t> </a:t>
            </a:r>
            <a:r>
              <a:rPr lang="hu-HU" b="1" dirty="0"/>
              <a:t>átlagolással</a:t>
            </a:r>
            <a:r>
              <a:rPr lang="hu-HU" dirty="0"/>
              <a:t>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 </a:t>
            </a:r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a pontosság.</a:t>
            </a:r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megoldást nyújt 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r>
              <a:rPr lang="hu-HU" dirty="0"/>
              <a:t>Sikeresen megoldottam újonnan érkező dokumentumok gyors integrálását a tudásbázisba, hogy a </a:t>
            </a:r>
            <a:r>
              <a:rPr lang="hu-HU" dirty="0" err="1"/>
              <a:t>retrieval</a:t>
            </a:r>
            <a:r>
              <a:rPr lang="hu-HU" dirty="0"/>
              <a:t> pontossága ne romoljon le!!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61454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31356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All-MiniLM</a:t>
            </a:r>
            <a:r>
              <a:rPr lang="hu-HU" dirty="0"/>
              <a:t> modell </a:t>
            </a:r>
            <a:r>
              <a:rPr lang="hu-HU" b="0" dirty="0"/>
              <a:t>páros mondat-reprezentációra lett </a:t>
            </a:r>
            <a:r>
              <a:rPr lang="hu-HU" b="0" dirty="0" err="1"/>
              <a:t>finomhangolva</a:t>
            </a:r>
            <a:r>
              <a:rPr lang="hu-HU" b="0" dirty="0"/>
              <a:t> (QA-pár adatokat)</a:t>
            </a:r>
          </a:p>
          <a:p>
            <a:r>
              <a:rPr lang="hu-HU" b="0" dirty="0" err="1"/>
              <a:t>Snowflake</a:t>
            </a:r>
            <a:r>
              <a:rPr lang="hu-HU" b="0" dirty="0"/>
              <a:t> </a:t>
            </a:r>
            <a:r>
              <a:rPr lang="hu-HU" b="0" dirty="0" err="1"/>
              <a:t>arctic</a:t>
            </a:r>
            <a:r>
              <a:rPr lang="hu-HU" b="0" dirty="0"/>
              <a:t> </a:t>
            </a:r>
            <a:r>
              <a:rPr lang="hu-HU" b="0" dirty="0" err="1"/>
              <a:t>embed</a:t>
            </a:r>
            <a:r>
              <a:rPr lang="hu-HU" b="0" dirty="0"/>
              <a:t>: univerzális, </a:t>
            </a:r>
            <a:r>
              <a:rPr lang="hu-HU" b="0" dirty="0" err="1"/>
              <a:t>general</a:t>
            </a:r>
            <a:r>
              <a:rPr lang="hu-HU" b="0" dirty="0"/>
              <a:t> </a:t>
            </a:r>
            <a:r>
              <a:rPr lang="hu-HU" b="0" dirty="0" err="1"/>
              <a:t>purpose</a:t>
            </a:r>
            <a:r>
              <a:rPr lang="hu-HU" b="0" dirty="0"/>
              <a:t> </a:t>
            </a:r>
            <a:r>
              <a:rPr lang="hu-HU" b="0" dirty="0" err="1"/>
              <a:t>embedder</a:t>
            </a:r>
            <a:endParaRPr lang="hu-HU" b="0" dirty="0"/>
          </a:p>
          <a:p>
            <a:endParaRPr lang="hu-HU" dirty="0"/>
          </a:p>
          <a:p>
            <a:r>
              <a:rPr lang="hu-HU" dirty="0"/>
              <a:t>Azon volt a lényeg a </a:t>
            </a:r>
            <a:r>
              <a:rPr lang="hu-HU" dirty="0" err="1"/>
              <a:t>szempontomből</a:t>
            </a:r>
            <a:r>
              <a:rPr lang="hu-HU" dirty="0"/>
              <a:t>, hogy a dimenziószám legyen más. Nem elsősorban a pontosság növelés volt a cél, a trendek megismerése. Konzisztensen ugyanazokat az </a:t>
            </a:r>
            <a:r>
              <a:rPr lang="hu-HU" dirty="0" err="1"/>
              <a:t>embeddingeket</a:t>
            </a:r>
            <a:r>
              <a:rPr lang="hu-HU" dirty="0"/>
              <a:t> használtam, így az eredmények is konzisztensek és általánosíthatóak.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33317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1024 dimenziós vektorokra a kiértékelés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20966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IVF: rögzített klaszterszám, nincsenek új klaszterek</a:t>
            </a:r>
          </a:p>
          <a:p>
            <a:endParaRPr lang="hu-HU" dirty="0"/>
          </a:p>
          <a:p>
            <a:r>
              <a:rPr lang="hu-HU" dirty="0"/>
              <a:t>Van egy </a:t>
            </a:r>
            <a:r>
              <a:rPr lang="hu-HU" dirty="0" err="1"/>
              <a:t>train</a:t>
            </a:r>
            <a:r>
              <a:rPr lang="hu-HU" dirty="0"/>
              <a:t> fázis ahol elkészülnek a klaszterek és utána az új vektor a legközelebbi klaszterekbe kerül. Nem frissül a </a:t>
            </a:r>
            <a:r>
              <a:rPr lang="hu-HU" dirty="0" err="1"/>
              <a:t>klaszterezés</a:t>
            </a:r>
            <a:r>
              <a:rPr lang="hu-HU" dirty="0"/>
              <a:t>.</a:t>
            </a:r>
          </a:p>
          <a:p>
            <a:r>
              <a:rPr lang="hu-HU" dirty="0"/>
              <a:t>Még ha a </a:t>
            </a:r>
            <a:r>
              <a:rPr lang="hu-HU" dirty="0" err="1"/>
              <a:t>klaszterezés</a:t>
            </a:r>
            <a:r>
              <a:rPr lang="hu-HU" dirty="0"/>
              <a:t> nagyon gyors is, nehéz ilyen gyorsan meghatározni, mi a helyes új klaszterszám.</a:t>
            </a:r>
          </a:p>
          <a:p>
            <a:endParaRPr lang="hu-HU" dirty="0"/>
          </a:p>
          <a:p>
            <a:r>
              <a:rPr lang="hu-HU" dirty="0"/>
              <a:t>Ha változik az adatok eloszlása időben a </a:t>
            </a:r>
            <a:r>
              <a:rPr lang="hu-HU" dirty="0" err="1"/>
              <a:t>retrieval</a:t>
            </a:r>
            <a:r>
              <a:rPr lang="hu-HU" dirty="0"/>
              <a:t> minősége romolhat, ha csak nem lesz elkészítve a </a:t>
            </a:r>
            <a:r>
              <a:rPr lang="hu-HU" dirty="0" err="1"/>
              <a:t>klaszterezés</a:t>
            </a:r>
            <a:r>
              <a:rPr lang="hu-HU" dirty="0"/>
              <a:t> újra, új klaszterszámmal.</a:t>
            </a:r>
          </a:p>
          <a:p>
            <a:r>
              <a:rPr lang="hu-HU" b="1" dirty="0"/>
              <a:t>HNSW </a:t>
            </a:r>
            <a:r>
              <a:rPr lang="hu-HU" b="1" dirty="0" err="1"/>
              <a:t>can</a:t>
            </a:r>
            <a:r>
              <a:rPr lang="hu-HU" b="1" dirty="0"/>
              <a:t> </a:t>
            </a:r>
            <a:r>
              <a:rPr lang="hu-HU" b="1" dirty="0" err="1"/>
              <a:t>reorganize</a:t>
            </a:r>
            <a:r>
              <a:rPr lang="hu-HU" b="1" dirty="0"/>
              <a:t> </a:t>
            </a:r>
            <a:r>
              <a:rPr lang="hu-HU" b="1" dirty="0" err="1"/>
              <a:t>itself</a:t>
            </a:r>
            <a:r>
              <a:rPr lang="hu-HU" b="1" dirty="0"/>
              <a:t>, </a:t>
            </a:r>
            <a:r>
              <a:rPr lang="hu-HU" b="0" dirty="0"/>
              <a:t>ez volt a releváns módszer a szempontomból, amihez hasonlítani kellett.</a:t>
            </a:r>
          </a:p>
          <a:p>
            <a:endParaRPr lang="hu-HU" b="0" dirty="0"/>
          </a:p>
          <a:p>
            <a:r>
              <a:rPr lang="hu-HU" b="0" dirty="0"/>
              <a:t>Jövőben </a:t>
            </a:r>
            <a:r>
              <a:rPr lang="hu-HU" b="0" dirty="0" err="1"/>
              <a:t>OnlineKMeans</a:t>
            </a:r>
            <a:r>
              <a:rPr lang="hu-HU" b="0" dirty="0"/>
              <a:t> + FAISS összevonása</a:t>
            </a:r>
            <a:endParaRPr lang="hu-HU" b="1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27404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Ezeknek az értékeknek a megválasztása a </a:t>
            </a:r>
            <a:r>
              <a:rPr lang="hu-HU" dirty="0" err="1"/>
              <a:t>klaszterezés</a:t>
            </a:r>
            <a:r>
              <a:rPr lang="hu-HU" dirty="0"/>
              <a:t> eredményeinek szempontjából kritikus, mint </a:t>
            </a:r>
            <a:r>
              <a:rPr lang="hu-HU" dirty="0" err="1"/>
              <a:t>pl</a:t>
            </a:r>
            <a:r>
              <a:rPr lang="hu-HU" dirty="0"/>
              <a:t> DBSCAN esetén epszilon.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287180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hu-HU" dirty="0"/>
              <a:t>normalizálás, mátrixszorzás</a:t>
            </a:r>
          </a:p>
          <a:p>
            <a:pPr marL="228600" indent="-228600">
              <a:buAutoNum type="arabicPeriod"/>
            </a:pPr>
            <a:r>
              <a:rPr lang="hu-HU" dirty="0"/>
              <a:t>Min távolság kiválasztása</a:t>
            </a:r>
          </a:p>
          <a:p>
            <a:pPr marL="228600" indent="-228600">
              <a:buAutoNum type="arabicPeriod"/>
            </a:pPr>
            <a:r>
              <a:rPr lang="hu-HU" dirty="0"/>
              <a:t>Maximum (</a:t>
            </a:r>
            <a:r>
              <a:rPr lang="hu-HU" dirty="0" err="1"/>
              <a:t>max_clusters</a:t>
            </a:r>
            <a:r>
              <a:rPr lang="hu-HU" dirty="0"/>
              <a:t> - </a:t>
            </a:r>
            <a:r>
              <a:rPr lang="hu-HU" dirty="0" err="1"/>
              <a:t>k</a:t>
            </a:r>
            <a:r>
              <a:rPr lang="hu-HU" dirty="0"/>
              <a:t>) új jöhet létre</a:t>
            </a:r>
          </a:p>
          <a:p>
            <a:pPr marL="228600" indent="-228600"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minden pontot egyszer összeadunk</a:t>
            </a:r>
          </a:p>
          <a:p>
            <a:pPr marL="228600" indent="-228600">
              <a:buAutoNum type="arabicPeriod"/>
            </a:pPr>
            <a:r>
              <a:rPr lang="hu-HU" dirty="0"/>
              <a:t>Klaszterek közötti </a:t>
            </a:r>
            <a:r>
              <a:rPr lang="hu-HU" dirty="0" err="1"/>
              <a:t>páronkénti</a:t>
            </a:r>
            <a:r>
              <a:rPr lang="hu-HU" dirty="0"/>
              <a:t> távolság számítása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9101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2025. 11. 16.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Tudományos Diákköri Konferencia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2025. 11. 16.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B7ABF0-6D9E-4C70-989A-9BB78F9C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Kutatásom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1D3057-2929-507F-31B0-3F589DF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b="1" dirty="0" err="1"/>
              <a:t>Retrieval</a:t>
            </a:r>
            <a:r>
              <a:rPr lang="hu-HU" dirty="0"/>
              <a:t> architektúra kidolgozása: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Klaszterezésen</a:t>
            </a:r>
            <a:r>
              <a:rPr lang="hu-HU" dirty="0"/>
              <a:t> alapul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Gyors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Képes dinamikusan integrálni új dokumentumokat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5E6796-0162-C42C-C416-95BBB0C4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319C39-3934-28BE-CA8E-FD6973DE4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/23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A53F255-7F10-1432-1818-2AED26E19A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9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/23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2025. 11. 16.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2025. 11. 16.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6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217F819-8BCE-2330-A7A0-C4736D45F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2025. 11. 16.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/23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  <p:pic>
        <p:nvPicPr>
          <p:cNvPr id="7" name="Kép 6" descr="A képen szöveg, Betűtípus, sor, fehér látható&#10;&#10;Automatikusan generált leírás">
            <a:extLst>
              <a:ext uri="{FF2B5EF4-FFF2-40B4-BE49-F238E27FC236}">
                <a16:creationId xmlns:a16="http://schemas.microsoft.com/office/drawing/2014/main" id="{933C162E-CF86-3CC3-BB8D-4B440F106B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778" y="3699673"/>
            <a:ext cx="4123222" cy="844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/23</a:t>
            </a:r>
          </a:p>
        </p:txBody>
      </p:sp>
      <p:pic>
        <p:nvPicPr>
          <p:cNvPr id="7" name="Tartalom helye 6" descr="A képen szöveg, Betűtípus, képernyőkép, dokumentum látható&#10;&#10;Automatikusan generált leírás">
            <a:extLst>
              <a:ext uri="{FF2B5EF4-FFF2-40B4-BE49-F238E27FC236}">
                <a16:creationId xmlns:a16="http://schemas.microsoft.com/office/drawing/2014/main" id="{25FE4AF1-0ABC-ACC1-2CEA-3001B7A55E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515600" cy="4607704"/>
          </a:xfr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A0F2EC60-07E1-40E5-2E7C-5798A9BCD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550" y="1300957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75F43D-5E96-C6FF-F194-39B287E968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/23</a:t>
            </a:r>
          </a:p>
        </p:txBody>
      </p:sp>
      <p:pic>
        <p:nvPicPr>
          <p:cNvPr id="6" name="Kép 5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6DA06527-DE02-E4A8-3B3B-8DCE7840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8646"/>
            <a:ext cx="11190529" cy="4432868"/>
          </a:xfrm>
          <a:prstGeom prst="rect">
            <a:avLst/>
          </a:prstGeom>
        </p:spPr>
      </p:pic>
      <p:pic>
        <p:nvPicPr>
          <p:cNvPr id="9" name="Kép 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C5DC3D4-9239-082D-165B-45262CC053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735" y="1459914"/>
            <a:ext cx="11187328" cy="443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3200" dirty="0"/>
              <a:t>Pontossági mérés beállításai:</a:t>
            </a:r>
          </a:p>
          <a:p>
            <a:pPr lvl="1"/>
            <a:r>
              <a:rPr lang="hu-HU" sz="2800" dirty="0"/>
              <a:t>Szintetikus adathalmaz:</a:t>
            </a:r>
          </a:p>
          <a:p>
            <a:pPr lvl="2"/>
            <a:r>
              <a:rPr lang="hu-HU" sz="2400" dirty="0"/>
              <a:t>500 dimenziós vektorok</a:t>
            </a:r>
          </a:p>
          <a:p>
            <a:pPr lvl="2"/>
            <a:r>
              <a:rPr lang="hu-HU" sz="2400" dirty="0"/>
              <a:t>10.000 adatpont</a:t>
            </a:r>
          </a:p>
          <a:p>
            <a:pPr lvl="2"/>
            <a:r>
              <a:rPr lang="hu-HU" sz="2400" dirty="0"/>
              <a:t>200, 300, 400, 500, 800 klaszter</a:t>
            </a:r>
          </a:p>
          <a:p>
            <a:pPr lvl="2"/>
            <a:r>
              <a:rPr lang="hu-HU" sz="2400" dirty="0"/>
              <a:t>Minden klaszterszámra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sz="24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/23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706CA3B-1CFC-6554-FE05-C02C44B7B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858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/23</a:t>
            </a:r>
          </a:p>
        </p:txBody>
      </p:sp>
      <p:pic>
        <p:nvPicPr>
          <p:cNvPr id="13" name="Tartalom helye 12" descr="A képen szöveg, képernyőkép, Betűtípus, szám látható&#10;&#10;Automatikusan generált leírás">
            <a:extLst>
              <a:ext uri="{FF2B5EF4-FFF2-40B4-BE49-F238E27FC236}">
                <a16:creationId xmlns:a16="http://schemas.microsoft.com/office/drawing/2014/main" id="{064548B2-D930-DEC7-0BF1-99A02E296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2780" y="1317287"/>
            <a:ext cx="7806440" cy="5412465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/23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D4FACBE2-2C8B-8AAE-B2F1-5B95A68DA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52588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/23</a:t>
            </a:r>
          </a:p>
        </p:txBody>
      </p:sp>
      <p:pic>
        <p:nvPicPr>
          <p:cNvPr id="8" name="Tartalom helye 7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A01BC323-3718-5EF4-A148-448EA70B45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092721" cy="4595556"/>
          </a:xfrm>
        </p:spPr>
      </p:pic>
      <p:pic>
        <p:nvPicPr>
          <p:cNvPr id="10" name="Kép 9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813B8AB-2885-83F4-56FA-9A06CFC6C8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39" y="1535769"/>
            <a:ext cx="11105379" cy="46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/23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10515600" cy="4351338"/>
          </a:xfrm>
        </p:spPr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555A286-E27A-84E1-58E0-3747F68537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68450"/>
            <a:ext cx="41529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/23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20</a:t>
            </a:fld>
            <a:r>
              <a:rPr lang="hu-HU" dirty="0"/>
              <a:t>/23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21</a:t>
            </a:fld>
            <a:r>
              <a:rPr lang="hu-HU" dirty="0"/>
              <a:t>/23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614176-4EBA-9C4A-5FDA-3CBC1D773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1/6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3A1FAD-606A-5828-938D-73C321CF9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5.2 fejezetben azt írja, hogy a dokumentumok 15%-át távolította el és 0.6-os hasonlósági küszöbértéket választott. Vizsgálta-e esetleg a teljesítményt más paraméter választás mellett? Mennyire érzékenyek az eredmények ezen paraméterekre?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Főleg a hasonlósági küszöbérték megválasztásától függ a pontossági eredmény. A hiányzó dokumentumok aránya nem befolyásoló tényező.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8EB153C-BED5-14B3-D9E5-D1C2AC784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C1B7534-0033-B93B-0AB6-CDF503296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38125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91160E-3CFC-51F4-0D64-B37431A45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Kérdés 1/6</a:t>
            </a:r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895B76-EC99-4CD9-78E8-9824BC16C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15FFE7B-BCCA-F723-ACE8-474D143B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  <p:pic>
        <p:nvPicPr>
          <p:cNvPr id="25" name="Tartalom helye 24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CE0527A9-DCDC-7142-71A0-C91818F692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4387"/>
            <a:ext cx="6096000" cy="2770909"/>
          </a:xfrm>
        </p:spPr>
      </p:pic>
      <p:pic>
        <p:nvPicPr>
          <p:cNvPr id="27" name="Kép 26" descr="A képen szöveg, sor, Diagram, Betűtípus látható&#10;&#10;Automatikusan generált leírás">
            <a:extLst>
              <a:ext uri="{FF2B5EF4-FFF2-40B4-BE49-F238E27FC236}">
                <a16:creationId xmlns:a16="http://schemas.microsoft.com/office/drawing/2014/main" id="{EFF63355-4441-C47C-C10A-AE24B3BE76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74388"/>
            <a:ext cx="6095999" cy="2770909"/>
          </a:xfrm>
          <a:prstGeom prst="rect">
            <a:avLst/>
          </a:prstGeom>
        </p:spPr>
      </p:pic>
      <p:pic>
        <p:nvPicPr>
          <p:cNvPr id="29" name="Kép 28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91F1A2F7-F0B7-6BCB-9E60-95C5091006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" y="3940106"/>
            <a:ext cx="6098400" cy="2772000"/>
          </a:xfrm>
          <a:prstGeom prst="rect">
            <a:avLst/>
          </a:prstGeom>
        </p:spPr>
      </p:pic>
      <p:pic>
        <p:nvPicPr>
          <p:cNvPr id="31" name="Kép 30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A271C484-B3A3-F8E7-CD05-349FDF08D3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800" y="4020641"/>
            <a:ext cx="6098399" cy="27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175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5C2D948-E810-3B60-6951-A5D022A78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2/6</a:t>
            </a:r>
            <a:br>
              <a:rPr lang="hu-HU" dirty="0"/>
            </a:b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04CF62-587D-AB1F-2779-C1194997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hu-HU" dirty="0"/>
              <a:t>A kísérleteit viszonylag egy adott beágyazási modell és adathalmaz esetére végezte el - mit gondol mennyire általánosak a kapott eredmények, van-e esetleg okunk azt gondolni, hogy más beágyazás vagy adathalmaz esetén is hasonló eredményeket kapnánk?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</a:t>
            </a:r>
            <a:r>
              <a:rPr lang="hu-HU" dirty="0" err="1"/>
              <a:t>SQuAD</a:t>
            </a:r>
            <a:r>
              <a:rPr lang="hu-HU" dirty="0"/>
              <a:t> egy QA típusú adathalmaz, amelyhez az </a:t>
            </a:r>
            <a:r>
              <a:rPr lang="hu-HU" dirty="0" err="1"/>
              <a:t>all-MiniLM</a:t>
            </a:r>
            <a:r>
              <a:rPr lang="hu-HU" dirty="0"/>
              <a:t> jól passzol, mert mondatpárok összehasonlítására is </a:t>
            </a:r>
            <a:r>
              <a:rPr lang="hu-HU" dirty="0" err="1"/>
              <a:t>finomhangolva</a:t>
            </a:r>
            <a:r>
              <a:rPr lang="hu-HU" dirty="0"/>
              <a:t> lett. Azonban a </a:t>
            </a:r>
            <a:r>
              <a:rPr lang="hu-HU" dirty="0" err="1"/>
              <a:t>Snowflake</a:t>
            </a:r>
            <a:r>
              <a:rPr lang="hu-HU" dirty="0"/>
              <a:t> modell által mutatott eredmények ugyanazokat a trendeket mutatják, mint az </a:t>
            </a:r>
            <a:r>
              <a:rPr lang="hu-HU" dirty="0" err="1"/>
              <a:t>all-MiniLM</a:t>
            </a:r>
            <a:r>
              <a:rPr lang="hu-HU" dirty="0"/>
              <a:t> esetén.</a:t>
            </a:r>
          </a:p>
          <a:p>
            <a:pPr marL="0" indent="0">
              <a:buNone/>
            </a:pPr>
            <a:r>
              <a:rPr lang="hu-HU" dirty="0"/>
              <a:t>Más típusú adathalmazok vizsgálata célszerű lehet, de hasonló eredményekre számítok.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5B467D2-401F-D6C0-10A7-A4565B8AE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92615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7422EA-7398-724E-82EE-D82CC4D20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2/6</a:t>
            </a:r>
          </a:p>
        </p:txBody>
      </p:sp>
      <p:pic>
        <p:nvPicPr>
          <p:cNvPr id="7" name="Tartalom helye 6" descr="A képen szöveg, sor, képernyőkép, Diagram látható&#10;&#10;Automatikusan generált leírás">
            <a:extLst>
              <a:ext uri="{FF2B5EF4-FFF2-40B4-BE49-F238E27FC236}">
                <a16:creationId xmlns:a16="http://schemas.microsoft.com/office/drawing/2014/main" id="{FD5A7E95-601A-5FB2-794F-3D74692F85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40" y="1397794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2DB71D7F-EB65-674D-645A-C74E58574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8B51A08-F296-A854-BF05-4325B0486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858448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FD2839-A558-CE58-D988-2A70BB3D8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3/6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CBE8E2-710D-D873-97C2-3629D7B4C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/>
              <a:t>A kísérleteiben a javasolt </a:t>
            </a:r>
            <a:r>
              <a:rPr lang="hu-HU" dirty="0" err="1"/>
              <a:t>klaszterezés</a:t>
            </a:r>
            <a:r>
              <a:rPr lang="hu-HU" dirty="0"/>
              <a:t>-alapú módszerek a minőség rovására javítanak a hatékonyságon a szokásos kereséshez képest. Tudja-e esetleg konkretizálni, hogy milyen alkalmazások, vagy szcenáriók esetén érné meg inkább a </a:t>
            </a:r>
            <a:r>
              <a:rPr lang="hu-HU" dirty="0" err="1"/>
              <a:t>klaszterezést</a:t>
            </a:r>
            <a:r>
              <a:rPr lang="hu-HU" dirty="0"/>
              <a:t> használni a bevett módszerekkel szemben?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Olyan dinamikusan változó tudásbázisok esetén, ahol az új információk témája előre nem látható módon és gyorsan változik, a rendszernek pedig valós időben kell integrálni az új adatokat.</a:t>
            </a:r>
          </a:p>
          <a:p>
            <a:r>
              <a:rPr lang="hu-HU" dirty="0"/>
              <a:t>Valós idejű híráram és közösségi média</a:t>
            </a:r>
          </a:p>
          <a:p>
            <a:r>
              <a:rPr lang="hu-HU" dirty="0"/>
              <a:t>Élő ügyfélszolgálat chatbot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380C67-3C45-D763-3973-7ED6B3540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41420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3D404A-3302-6578-2D67-2C24E0F73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4/6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420C507-EB27-3FCF-ED99-D04A0F081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Hogyan kapcsolódik a bevezetett klaszter alapú, két lépcsős dokumentum keresés a FAISS könyvtárba tartozó IVF indexelési módszerhez?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 kutatásom célja a dinamikus, streaming környezetek hatékony kezelése volt. FAISS IVF </a:t>
            </a:r>
            <a:r>
              <a:rPr lang="hu-HU" dirty="0" err="1"/>
              <a:t>KMeans</a:t>
            </a:r>
            <a:r>
              <a:rPr lang="hu-HU" dirty="0"/>
              <a:t> </a:t>
            </a:r>
            <a:r>
              <a:rPr lang="hu-HU" dirty="0" err="1"/>
              <a:t>klaszterezésen</a:t>
            </a:r>
            <a:r>
              <a:rPr lang="hu-HU" dirty="0"/>
              <a:t> alapszik, koncepcionálisan hasonlít az én módszeremre, de nem képes új klasztereket létrehozni, és meglévőket módosítani. Azért a HNSW alapú FAISS indexet választottam kiértékeléskor, mert képes gyorsan integrálni új adatokat, IVF-</a:t>
            </a:r>
            <a:r>
              <a:rPr lang="hu-HU" dirty="0" err="1"/>
              <a:t>nek</a:t>
            </a:r>
            <a:r>
              <a:rPr lang="hu-HU" dirty="0"/>
              <a:t> viszont újra kell futtatni a </a:t>
            </a:r>
            <a:r>
              <a:rPr lang="hu-HU" dirty="0" err="1"/>
              <a:t>klaszterezést</a:t>
            </a:r>
            <a:r>
              <a:rPr lang="hu-HU" dirty="0"/>
              <a:t>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C9FEC2-180B-7E5C-D40A-C4B2BEC1B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F5D90A3-581C-D439-01FA-2812B87D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18943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285C04-2A23-CDAF-E8BE-F6F82059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4/6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C47E986C-89A4-AA07-57EC-312178B60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40" y="1346994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93FAC41A-DA4D-C2DB-7141-484654A0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B257049-C2C3-0F9B-1AD4-6A21ABA51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996397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BA52F7-CDAC-BDA6-EEE3-719E7EDD8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4/6</a:t>
            </a:r>
          </a:p>
        </p:txBody>
      </p:sp>
      <p:pic>
        <p:nvPicPr>
          <p:cNvPr id="7" name="Tartalom helye 6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0F1A4F36-976E-E49E-DB82-3E1EA6D0BE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760" y="1414727"/>
            <a:ext cx="843048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4BE750C-FD12-6CD7-3B11-DB3CDE636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8EDF101-52C1-5AE6-8A99-1719B118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1698588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A6FD8F-0EC8-FA24-9871-53A30DCF9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5/6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9949F5-1AC9-199E-3E98-BD1808EDE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küszöbértékeket tartalmaz a klaszterek </a:t>
            </a:r>
            <a:r>
              <a:rPr lang="hu-HU" dirty="0" err="1"/>
              <a:t>összevonsára</a:t>
            </a:r>
            <a:r>
              <a:rPr lang="hu-HU" dirty="0"/>
              <a:t> és új klaszter </a:t>
            </a:r>
            <a:r>
              <a:rPr lang="hu-HU" dirty="0" err="1"/>
              <a:t>bevezetésésre</a:t>
            </a:r>
            <a:r>
              <a:rPr lang="hu-HU" dirty="0"/>
              <a:t>. Milyen módszerrel lettek ezek az értékek kiválasztva, és milyen hatása van a túl alacsony vagy túl magas értéknek a rendszer stabilitására?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0" indent="0">
              <a:buNone/>
            </a:pPr>
            <a:r>
              <a:rPr lang="hu-HU" dirty="0"/>
              <a:t>Az értékeket az adathalmaz megismerése során határoztam meg. Ezeknek az értékeknek a megválasztása kritikus, és mindenképpen a környezethez kell hangolni.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213920-9C0B-904B-7D21-4B7673C7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866DA96-D6F4-97A7-6DB9-E4B1BE20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62809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BAD43B-D426-7CBC-3AE6-E58FABDB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Kérdés 6/6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D280D0-76BB-3A65-EB32-5B0854E10A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Az Online </a:t>
            </a:r>
            <a:r>
              <a:rPr lang="hu-HU" dirty="0" err="1"/>
              <a:t>KMeans</a:t>
            </a:r>
            <a:r>
              <a:rPr lang="hu-HU" dirty="0"/>
              <a:t> algoritmus leírásában nem szerepel a klaszterösszevonási iteráció. Ez hogyan módosítaná az 1. táblázatban lévő időkomplexitási becslést?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dirty="0"/>
              <a:t>Válasz: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Távolságok számítása: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Min távolságok kiválasztása: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n⋅k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Új klaszterek létrehozása: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k⋅d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 err="1"/>
              <a:t>Centroid</a:t>
            </a:r>
            <a:r>
              <a:rPr lang="hu-HU" dirty="0"/>
              <a:t> frissítés: </a:t>
            </a:r>
            <a:r>
              <a:rPr lang="hu-HU" dirty="0" err="1"/>
              <a:t>O</a:t>
            </a:r>
            <a:r>
              <a:rPr lang="hu-HU" dirty="0"/>
              <a:t>(</a:t>
            </a:r>
            <a:r>
              <a:rPr lang="hu-HU" dirty="0" err="1"/>
              <a:t>n⋅d</a:t>
            </a:r>
            <a:r>
              <a:rPr lang="hu-HU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Klaszterek összevonása: </a:t>
            </a:r>
            <a:r>
              <a:rPr lang="hu-HU" dirty="0" err="1"/>
              <a:t>O</a:t>
            </a:r>
            <a:r>
              <a:rPr lang="hu-HU" dirty="0"/>
              <a:t>(k</a:t>
            </a:r>
            <a:r>
              <a:rPr lang="hu-HU" baseline="30000" dirty="0"/>
              <a:t>2</a:t>
            </a:r>
            <a:r>
              <a:rPr lang="hu-HU" dirty="0"/>
              <a:t>⋅d)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A634973-1405-254B-EF4E-1981C2526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EEC99F-4BCD-8009-44A9-EB308AA1F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Jobb oldali szögletes zárójel 5">
            <a:extLst>
              <a:ext uri="{FF2B5EF4-FFF2-40B4-BE49-F238E27FC236}">
                <a16:creationId xmlns:a16="http://schemas.microsoft.com/office/drawing/2014/main" id="{0111E78A-2683-DBB9-9E94-68F904F35B99}"/>
              </a:ext>
            </a:extLst>
          </p:cNvPr>
          <p:cNvSpPr/>
          <p:nvPr/>
        </p:nvSpPr>
        <p:spPr>
          <a:xfrm>
            <a:off x="6282267" y="3802856"/>
            <a:ext cx="677333" cy="1642534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8" name="Egyenes összekötő nyíllal 7">
            <a:extLst>
              <a:ext uri="{FF2B5EF4-FFF2-40B4-BE49-F238E27FC236}">
                <a16:creationId xmlns:a16="http://schemas.microsoft.com/office/drawing/2014/main" id="{8BB2EFC9-130C-6FF5-2D1E-5D2A892FAC5C}"/>
              </a:ext>
            </a:extLst>
          </p:cNvPr>
          <p:cNvCxnSpPr>
            <a:cxnSpLocks/>
          </p:cNvCxnSpPr>
          <p:nvPr/>
        </p:nvCxnSpPr>
        <p:spPr>
          <a:xfrm flipV="1">
            <a:off x="6959600" y="4624122"/>
            <a:ext cx="457200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FAFBA148-CF94-6825-68AF-99F756B8E2C2}"/>
              </a:ext>
            </a:extLst>
          </p:cNvPr>
          <p:cNvCxnSpPr>
            <a:cxnSpLocks/>
          </p:cNvCxnSpPr>
          <p:nvPr/>
        </p:nvCxnSpPr>
        <p:spPr>
          <a:xfrm>
            <a:off x="6282267" y="5792523"/>
            <a:ext cx="224366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5EE71E48-DECC-1EA8-CD32-FB24377A3C23}"/>
              </a:ext>
            </a:extLst>
          </p:cNvPr>
          <p:cNvSpPr txBox="1"/>
          <p:nvPr/>
        </p:nvSpPr>
        <p:spPr>
          <a:xfrm>
            <a:off x="7416800" y="4377900"/>
            <a:ext cx="221826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600" dirty="0" err="1"/>
              <a:t>O</a:t>
            </a:r>
            <a:r>
              <a:rPr lang="hu-HU" sz="2600" dirty="0"/>
              <a:t>(</a:t>
            </a:r>
            <a:r>
              <a:rPr lang="hu-HU" sz="2600" dirty="0" err="1"/>
              <a:t>n⋅k⋅d</a:t>
            </a:r>
            <a:r>
              <a:rPr lang="hu-HU" sz="2600" dirty="0"/>
              <a:t>)</a:t>
            </a:r>
          </a:p>
        </p:txBody>
      </p:sp>
      <p:sp>
        <p:nvSpPr>
          <p:cNvPr id="14" name="Jobb oldali szögletes zárójel 13">
            <a:extLst>
              <a:ext uri="{FF2B5EF4-FFF2-40B4-BE49-F238E27FC236}">
                <a16:creationId xmlns:a16="http://schemas.microsoft.com/office/drawing/2014/main" id="{FF3730C2-03F2-3F39-4113-247653C9466B}"/>
              </a:ext>
            </a:extLst>
          </p:cNvPr>
          <p:cNvSpPr/>
          <p:nvPr/>
        </p:nvSpPr>
        <p:spPr>
          <a:xfrm>
            <a:off x="8703735" y="4641054"/>
            <a:ext cx="385233" cy="1098101"/>
          </a:xfrm>
          <a:prstGeom prst="rightBracket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5" name="Egyenes összekötő nyíllal 14">
            <a:extLst>
              <a:ext uri="{FF2B5EF4-FFF2-40B4-BE49-F238E27FC236}">
                <a16:creationId xmlns:a16="http://schemas.microsoft.com/office/drawing/2014/main" id="{6B15900E-A6BD-C5EA-A3A1-C7A69C3E236C}"/>
              </a:ext>
            </a:extLst>
          </p:cNvPr>
          <p:cNvCxnSpPr>
            <a:cxnSpLocks/>
          </p:cNvCxnSpPr>
          <p:nvPr/>
        </p:nvCxnSpPr>
        <p:spPr>
          <a:xfrm>
            <a:off x="9088968" y="5190104"/>
            <a:ext cx="39793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Szövegdoboz 15">
                <a:extLst>
                  <a:ext uri="{FF2B5EF4-FFF2-40B4-BE49-F238E27FC236}">
                    <a16:creationId xmlns:a16="http://schemas.microsoft.com/office/drawing/2014/main" id="{7382F609-DC90-1DC6-FD7E-3F582CF5355F}"/>
                  </a:ext>
                </a:extLst>
              </p:cNvPr>
              <p:cNvSpPr txBox="1"/>
              <p:nvPr/>
            </p:nvSpPr>
            <p:spPr>
              <a:xfrm>
                <a:off x="9520766" y="4953266"/>
                <a:ext cx="2671233" cy="1692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hu-HU" sz="2600" dirty="0"/>
                  <a:t>O(</a:t>
                </a:r>
                <a:r>
                  <a:rPr lang="hu-HU" sz="2600" dirty="0" err="1"/>
                  <a:t>n⋅k⋅d</a:t>
                </a:r>
                <a:r>
                  <a:rPr lang="hu-HU" sz="2600" dirty="0"/>
                  <a:t>) + </a:t>
                </a:r>
                <a:r>
                  <a:rPr lang="hu-HU" sz="2600" dirty="0" err="1"/>
                  <a:t>O</a:t>
                </a:r>
                <a:r>
                  <a:rPr lang="hu-HU" sz="2600" dirty="0"/>
                  <a:t>(k</a:t>
                </a:r>
                <a:r>
                  <a:rPr lang="hu-HU" sz="2600" baseline="30000" dirty="0"/>
                  <a:t>2</a:t>
                </a:r>
                <a:r>
                  <a:rPr lang="hu-HU" sz="2600" dirty="0"/>
                  <a:t>⋅d) </a:t>
                </a:r>
                <a14:m>
                  <m:oMath xmlns:m="http://schemas.openxmlformats.org/officeDocument/2006/math">
                    <m:r>
                      <a:rPr lang="hu-HU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m:rPr>
                        <m:nor/>
                      </m:rPr>
                      <a:rPr lang="hu-HU" sz="2600" dirty="0"/>
                      <m:t>O</m:t>
                    </m:r>
                    <m:r>
                      <m:rPr>
                        <m:nor/>
                      </m:rPr>
                      <a:rPr lang="hu-HU" sz="2600" dirty="0"/>
                      <m:t>(</m:t>
                    </m:r>
                    <m:r>
                      <m:rPr>
                        <m:nor/>
                      </m:rPr>
                      <a:rPr lang="hu-HU" sz="2600" dirty="0"/>
                      <m:t>n</m:t>
                    </m:r>
                    <m:r>
                      <m:rPr>
                        <m:nor/>
                      </m:rPr>
                      <a:rPr lang="hu-HU" sz="2600" dirty="0"/>
                      <m:t>⋅</m:t>
                    </m:r>
                    <m:r>
                      <m:rPr>
                        <m:nor/>
                      </m:rPr>
                      <a:rPr lang="hu-HU" sz="2600" dirty="0"/>
                      <m:t>k</m:t>
                    </m:r>
                    <m:r>
                      <m:rPr>
                        <m:nor/>
                      </m:rPr>
                      <a:rPr lang="hu-HU" sz="2600" dirty="0"/>
                      <m:t>⋅</m:t>
                    </m:r>
                    <m:r>
                      <m:rPr>
                        <m:nor/>
                      </m:rPr>
                      <a:rPr lang="hu-HU" sz="2600" dirty="0"/>
                      <m:t>d</m:t>
                    </m:r>
                    <m:r>
                      <m:rPr>
                        <m:nor/>
                      </m:rPr>
                      <a:rPr lang="hu-HU" sz="2600" dirty="0"/>
                      <m:t>)</m:t>
                    </m:r>
                  </m:oMath>
                </a14:m>
                <a:endParaRPr lang="hu-HU" sz="2600" dirty="0"/>
              </a:p>
              <a:p>
                <a:r>
                  <a:rPr lang="hu-HU" sz="2600" dirty="0"/>
                  <a:t>(amíg </a:t>
                </a:r>
                <a:r>
                  <a:rPr lang="hu-HU" sz="2600" dirty="0" err="1"/>
                  <a:t>k</a:t>
                </a:r>
                <a:r>
                  <a:rPr lang="hu-HU" sz="2600" dirty="0"/>
                  <a:t> &lt; </a:t>
                </a:r>
                <a:r>
                  <a:rPr lang="hu-HU" sz="2600" dirty="0" err="1"/>
                  <a:t>n</a:t>
                </a:r>
                <a:r>
                  <a:rPr lang="hu-HU" sz="2600" dirty="0"/>
                  <a:t>)</a:t>
                </a:r>
              </a:p>
              <a:p>
                <a:endParaRPr lang="hu-HU" sz="2600" dirty="0"/>
              </a:p>
            </p:txBody>
          </p:sp>
        </mc:Choice>
        <mc:Fallback xmlns="">
          <p:sp>
            <p:nvSpPr>
              <p:cNvPr id="16" name="Szövegdoboz 15">
                <a:extLst>
                  <a:ext uri="{FF2B5EF4-FFF2-40B4-BE49-F238E27FC236}">
                    <a16:creationId xmlns:a16="http://schemas.microsoft.com/office/drawing/2014/main" id="{7382F609-DC90-1DC6-FD7E-3F582CF53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766" y="4953266"/>
                <a:ext cx="2671233" cy="1692771"/>
              </a:xfrm>
              <a:prstGeom prst="rect">
                <a:avLst/>
              </a:prstGeom>
              <a:blipFill>
                <a:blip r:embed="rId4"/>
                <a:stretch>
                  <a:fillRect l="-3774" t="-3731" r="-5189"/>
                </a:stretch>
              </a:blipFill>
            </p:spPr>
            <p:txBody>
              <a:bodyPr/>
              <a:lstStyle/>
              <a:p>
                <a:r>
                  <a:rPr lang="hu-H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6749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41110B-2A04-EA85-4FF0-EB63937E3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TODO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012434-0F69-AAF1-CA47-233995607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Online </a:t>
            </a:r>
            <a:r>
              <a:rPr lang="hu-HU" dirty="0" err="1"/>
              <a:t>clustering</a:t>
            </a:r>
            <a:r>
              <a:rPr lang="hu-HU" dirty="0"/>
              <a:t> ábra javítása</a:t>
            </a:r>
          </a:p>
          <a:p>
            <a:r>
              <a:rPr lang="hu-HU" dirty="0"/>
              <a:t>5,6,7 ábra egy klaszterszám mellett közös diagrammon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1E60A27-C518-57F8-30B3-AC7DDDFF8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2025. 11. 16.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10575B4-5356-8C7D-9C33-A3E9EC13C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58836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3191</Words>
  <Application>Microsoft Macintosh PowerPoint</Application>
  <PresentationFormat>Szélesvásznú</PresentationFormat>
  <Paragraphs>398</Paragraphs>
  <Slides>34</Slides>
  <Notes>30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Kutatásom célja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Kérdés 1/6</vt:lpstr>
      <vt:lpstr>Kérdés 1/6</vt:lpstr>
      <vt:lpstr>Kérdés 2/6 </vt:lpstr>
      <vt:lpstr>Kérdés 2/6</vt:lpstr>
      <vt:lpstr>Kérdés 3/6</vt:lpstr>
      <vt:lpstr>Kérdés 4/6</vt:lpstr>
      <vt:lpstr>Kérdés 4/6</vt:lpstr>
      <vt:lpstr>Kérdés 4/6</vt:lpstr>
      <vt:lpstr>Kérdés 5/6</vt:lpstr>
      <vt:lpstr>Kérdés 6/6</vt:lpstr>
      <vt:lpstr>TODO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464</cp:revision>
  <cp:lastPrinted>2025-11-09T09:32:58Z</cp:lastPrinted>
  <dcterms:created xsi:type="dcterms:W3CDTF">2025-10-16T06:59:48Z</dcterms:created>
  <dcterms:modified xsi:type="dcterms:W3CDTF">2025-11-16T21:11:12Z</dcterms:modified>
</cp:coreProperties>
</file>