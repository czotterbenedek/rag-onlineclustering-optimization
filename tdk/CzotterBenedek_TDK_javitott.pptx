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4" r:id="rId9"/>
    <p:sldId id="271" r:id="rId10"/>
    <p:sldId id="273" r:id="rId11"/>
    <p:sldId id="265" r:id="rId12"/>
    <p:sldId id="274" r:id="rId13"/>
    <p:sldId id="266" r:id="rId14"/>
    <p:sldId id="275" r:id="rId15"/>
    <p:sldId id="267" r:id="rId16"/>
    <p:sldId id="272" r:id="rId17"/>
    <p:sldId id="270" r:id="rId18"/>
    <p:sldId id="276" r:id="rId19"/>
    <p:sldId id="277" r:id="rId20"/>
    <p:sldId id="278" r:id="rId21"/>
    <p:sldId id="279" r:id="rId22"/>
    <p:sldId id="260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9" autoAdjust="0"/>
    <p:restoredTop sz="66841"/>
  </p:normalViewPr>
  <p:slideViewPr>
    <p:cSldViewPr snapToGrid="0">
      <p:cViewPr varScale="1">
        <p:scale>
          <a:sx n="75" d="100"/>
          <a:sy n="75" d="100"/>
        </p:scale>
        <p:origin x="1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5BC8E-5813-4F4E-B35B-0E3B0D0BF7D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F544B-8942-4253-A6F4-42DBF943B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000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600" dirty="0"/>
              <a:t>Köszöntök mindenkit.</a:t>
            </a:r>
          </a:p>
          <a:p>
            <a:endParaRPr lang="hu-HU" sz="1600" dirty="0"/>
          </a:p>
          <a:p>
            <a:r>
              <a:rPr lang="hu-HU" sz="1600" dirty="0"/>
              <a:t>A nevem </a:t>
            </a:r>
            <a:r>
              <a:rPr lang="hu-HU" sz="1600" dirty="0" err="1"/>
              <a:t>Czotter</a:t>
            </a:r>
            <a:r>
              <a:rPr lang="hu-HU" sz="1600" dirty="0"/>
              <a:t> Benedek , és a ‚</a:t>
            </a:r>
            <a:r>
              <a:rPr lang="hu-HU" sz="1600" dirty="0" err="1"/>
              <a:t>Klaszterezési</a:t>
            </a:r>
            <a:r>
              <a:rPr lang="hu-HU" sz="1600" dirty="0"/>
              <a:t> stratégiák RAG rendszerek hatékonyságának növelésére' című munkámat szeretném bemutatni, amely Dr. Szűcs Gábor konzulensi vezetésével készült.</a:t>
            </a:r>
          </a:p>
          <a:p>
            <a:endParaRPr lang="hu-HU" sz="1600" dirty="0"/>
          </a:p>
          <a:p>
            <a:r>
              <a:rPr lang="hu-HU" sz="2400" dirty="0"/>
              <a:t>A nagy nyelvi modellek forradalmasították a szövegértést, de komoly korlátjuk, hogy a tudásuk be van fagyasztva a tanítási adatokba, és hajlamosak 'hallucinálni', vagyis valótlan dolgokat állítani. Erre a problémára nyújt megoldást a RAG, azaz </a:t>
            </a:r>
            <a:r>
              <a:rPr lang="hu-HU" sz="2400" dirty="0" err="1"/>
              <a:t>Retrieval</a:t>
            </a:r>
            <a:r>
              <a:rPr lang="hu-HU" sz="2400" dirty="0"/>
              <a:t> </a:t>
            </a:r>
            <a:r>
              <a:rPr lang="hu-HU" sz="2400" dirty="0" err="1"/>
              <a:t>Augmented</a:t>
            </a:r>
            <a:r>
              <a:rPr lang="hu-HU" sz="2400" dirty="0"/>
              <a:t> </a:t>
            </a:r>
            <a:r>
              <a:rPr lang="hu-HU" sz="2400" dirty="0" err="1"/>
              <a:t>Generation</a:t>
            </a:r>
            <a:r>
              <a:rPr lang="hu-HU" sz="2400" dirty="0"/>
              <a:t>.</a:t>
            </a:r>
            <a:endParaRPr lang="hu-HU" sz="16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051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RAG egy olyan architektúra, ami kiegészíti a nyelvi modelleket egy külső tudásbázissal.</a:t>
            </a:r>
          </a:p>
          <a:p>
            <a:endParaRPr lang="hu-HU" dirty="0"/>
          </a:p>
          <a:p>
            <a:r>
              <a:rPr lang="hu-HU" dirty="0"/>
              <a:t>1. A felhasználó elküld egy kérdést.</a:t>
            </a:r>
          </a:p>
          <a:p>
            <a:r>
              <a:rPr lang="hu-HU" dirty="0"/>
              <a:t>2. Ahelyett, hogy ez egyből az LLM-</a:t>
            </a:r>
            <a:r>
              <a:rPr lang="hu-HU" dirty="0" err="1"/>
              <a:t>hez</a:t>
            </a:r>
            <a:r>
              <a:rPr lang="hu-HU" dirty="0"/>
              <a:t> kerülne, a rendszer először egy '</a:t>
            </a:r>
            <a:r>
              <a:rPr lang="hu-HU" dirty="0" err="1"/>
              <a:t>Retrieval</a:t>
            </a:r>
            <a:r>
              <a:rPr lang="hu-HU" dirty="0"/>
              <a:t>', azaz visszakeresési lépést végez. A kérdés alapján megkeresi a legrelevánsabb információkat egy dokumentumtárból, ami egy vektor adatbázisban van tárolva.</a:t>
            </a:r>
          </a:p>
          <a:p>
            <a:r>
              <a:rPr lang="hu-HU" dirty="0"/>
              <a:t>3. A rendszer kiválasztja a legjobb </a:t>
            </a:r>
            <a:r>
              <a:rPr lang="hu-HU" dirty="0" err="1"/>
              <a:t>K</a:t>
            </a:r>
            <a:r>
              <a:rPr lang="hu-HU" dirty="0"/>
              <a:t> darab releváns szövegrészletet, vagy '</a:t>
            </a:r>
            <a:r>
              <a:rPr lang="hu-HU" dirty="0" err="1"/>
              <a:t>chunk</a:t>
            </a:r>
            <a:r>
              <a:rPr lang="hu-HU" dirty="0"/>
              <a:t>-ot’.</a:t>
            </a:r>
          </a:p>
          <a:p>
            <a:r>
              <a:rPr lang="hu-HU" dirty="0"/>
              <a:t>4. Végül ezeket a szövegrészleteket, a felhasználó eredeti kérdésével együtt, elküldi a nyelvi modellnek.</a:t>
            </a:r>
          </a:p>
          <a:p>
            <a:r>
              <a:rPr lang="hu-HU" dirty="0"/>
              <a:t>5. Az LLM így már a friss, releváns kontextus alapján generál egy pontos választ.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Ez a módszer csökkenti a hallucinációt és lehetővé teszi, hogy a modell naprakész adatokból dolgozzon.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702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munkám során a </a:t>
            </a:r>
            <a:r>
              <a:rPr lang="hu-HU" dirty="0" err="1"/>
              <a:t>SQuAD</a:t>
            </a:r>
            <a:r>
              <a:rPr lang="hu-HU" dirty="0"/>
              <a:t>, vagyis a Stanford </a:t>
            </a:r>
            <a:r>
              <a:rPr lang="hu-HU" dirty="0" err="1"/>
              <a:t>Question</a:t>
            </a:r>
            <a:r>
              <a:rPr lang="hu-HU" dirty="0"/>
              <a:t> </a:t>
            </a:r>
            <a:r>
              <a:rPr lang="hu-HU" dirty="0" err="1"/>
              <a:t>Answering</a:t>
            </a:r>
            <a:r>
              <a:rPr lang="hu-HU" dirty="0"/>
              <a:t> </a:t>
            </a:r>
            <a:r>
              <a:rPr lang="hu-HU" dirty="0" err="1"/>
              <a:t>Datasetet</a:t>
            </a:r>
            <a:r>
              <a:rPr lang="hu-HU" dirty="0"/>
              <a:t> használtam, amely szövegeket és hozzájuk tartozó kérdéseket tartalmaz.</a:t>
            </a:r>
          </a:p>
          <a:p>
            <a:endParaRPr lang="hu-HU" dirty="0"/>
          </a:p>
          <a:p>
            <a:r>
              <a:rPr lang="hu-HU" dirty="0"/>
              <a:t>Az adatok előfeldolgozása két fő lépésből állt:</a:t>
            </a:r>
          </a:p>
          <a:p>
            <a:r>
              <a:rPr lang="hu-HU" dirty="0"/>
              <a:t>	1. Először egy általános szövegtisztítást végeztem.</a:t>
            </a:r>
          </a:p>
          <a:p>
            <a:r>
              <a:rPr lang="hu-HU" dirty="0"/>
              <a:t>	2. Ezután '</a:t>
            </a:r>
            <a:r>
              <a:rPr lang="hu-HU" dirty="0" err="1"/>
              <a:t>Semantic</a:t>
            </a:r>
            <a:r>
              <a:rPr lang="hu-HU" dirty="0"/>
              <a:t> </a:t>
            </a:r>
            <a:r>
              <a:rPr lang="hu-HU" dirty="0" err="1"/>
              <a:t>Chunking</a:t>
            </a:r>
            <a:r>
              <a:rPr lang="hu-HU" dirty="0"/>
              <a:t>'-ot, vagyis szemantikus darabolást alkalmaztam. Ez azért fontos, mert nem csak fix méretű darabokra vágjuk a szöveget, hanem megpróbáljuk a logikailag összetartozó részeket egyben tartani. Ez nagyban segíti a későbbi visszakeresés pontosságát.</a:t>
            </a:r>
          </a:p>
          <a:p>
            <a:endParaRPr lang="hu-HU" dirty="0"/>
          </a:p>
          <a:p>
            <a:r>
              <a:rPr lang="hu-HU" dirty="0"/>
              <a:t>Az ábrán a </a:t>
            </a:r>
            <a:r>
              <a:rPr lang="hu-HU" dirty="0" err="1"/>
              <a:t>SQuAD</a:t>
            </a:r>
            <a:r>
              <a:rPr lang="hu-HU" dirty="0"/>
              <a:t> adathalmazban található szövegek hosszúságának eloszlása látható.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6004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Miután megvannak a szövegdarabok, azokat 'vektoros reprezentációvá' kell alakítani. Ezt nevezzük szövegbeágyazásnak vagy más szóval </a:t>
            </a:r>
            <a:r>
              <a:rPr lang="hu-HU" dirty="0" err="1"/>
              <a:t>embedding-nek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Egy </a:t>
            </a:r>
            <a:r>
              <a:rPr lang="hu-HU" dirty="0" err="1"/>
              <a:t>embedding</a:t>
            </a:r>
            <a:r>
              <a:rPr lang="hu-HU" dirty="0"/>
              <a:t> modell minden szövegrészlethez hozzárendel egy több száz dimenziós vektort. A modell lényege, hogy a hasonló jelentésű szövegek (mint pl. '</a:t>
            </a:r>
            <a:r>
              <a:rPr lang="hu-HU" dirty="0" err="1"/>
              <a:t>cat</a:t>
            </a:r>
            <a:r>
              <a:rPr lang="hu-HU" dirty="0"/>
              <a:t>' és 'kitten') közel kerülnek egymáshoz ebben a vektortérben, míg az eltérő jelentésűek (mint '</a:t>
            </a:r>
            <a:r>
              <a:rPr lang="hu-HU" dirty="0" err="1"/>
              <a:t>cat</a:t>
            </a:r>
            <a:r>
              <a:rPr lang="hu-HU" dirty="0"/>
              <a:t>' és '</a:t>
            </a:r>
            <a:r>
              <a:rPr lang="hu-HU" dirty="0" err="1"/>
              <a:t>houses</a:t>
            </a:r>
            <a:r>
              <a:rPr lang="hu-HU" dirty="0"/>
              <a:t>') távol.</a:t>
            </a:r>
          </a:p>
          <a:p>
            <a:endParaRPr lang="hu-HU" dirty="0"/>
          </a:p>
          <a:p>
            <a:r>
              <a:rPr lang="hu-HU" dirty="0"/>
              <a:t>Én két modellt vizsgáltam: egy kisebb, 384 dimenziós '</a:t>
            </a:r>
            <a:r>
              <a:rPr lang="hu-HU" dirty="0" err="1"/>
              <a:t>all-MiniLM</a:t>
            </a:r>
            <a:r>
              <a:rPr lang="hu-HU" dirty="0"/>
              <a:t>' modellt, és egy nagyobb, 1024 dimenziós '</a:t>
            </a:r>
            <a:r>
              <a:rPr lang="hu-HU" dirty="0" err="1"/>
              <a:t>Snowflake</a:t>
            </a:r>
            <a:r>
              <a:rPr lang="hu-HU" dirty="0"/>
              <a:t> </a:t>
            </a:r>
            <a:r>
              <a:rPr lang="hu-HU" dirty="0" err="1"/>
              <a:t>Arctic-embed</a:t>
            </a:r>
            <a:r>
              <a:rPr lang="hu-HU" dirty="0"/>
              <a:t>' modellt.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4069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Különböző hasonlóságmérési technikák léteznek, hogy ebben a vektortérben közelséget lehessen vizsgálni.</a:t>
            </a:r>
          </a:p>
          <a:p>
            <a:endParaRPr lang="hu-HU" dirty="0"/>
          </a:p>
          <a:p>
            <a:r>
              <a:rPr lang="hu-HU" dirty="0"/>
              <a:t>A két leggyakoribb a </a:t>
            </a:r>
            <a:r>
              <a:rPr lang="hu-HU" b="1" dirty="0"/>
              <a:t>Koszinusz hasonlóság</a:t>
            </a:r>
            <a:r>
              <a:rPr lang="hu-HU" dirty="0"/>
              <a:t> , ami a két vektor által bezárt szöget méri.</a:t>
            </a:r>
          </a:p>
          <a:p>
            <a:endParaRPr lang="hu-HU" dirty="0"/>
          </a:p>
          <a:p>
            <a:r>
              <a:rPr lang="hu-HU" dirty="0"/>
              <a:t>és az </a:t>
            </a:r>
            <a:r>
              <a:rPr lang="hu-HU" b="1" dirty="0"/>
              <a:t>Euklideszi távolság</a:t>
            </a:r>
            <a:r>
              <a:rPr lang="hu-HU" dirty="0"/>
              <a:t>, ami a két vektorvégpont közötti egyenes távolságot méri.</a:t>
            </a:r>
          </a:p>
          <a:p>
            <a:endParaRPr lang="hu-HU" dirty="0"/>
          </a:p>
          <a:p>
            <a:r>
              <a:rPr lang="hu-HU" dirty="0"/>
              <a:t>Magas dimenziós vektor terekben a koszinusz hasonlóság használata a gyakoribb, így munkám során én is ezt alkalmaztam.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5938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És itt érkezünk el a kutatásom központi problémájához. Az alapértelmezett megközelítés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keresés. Ez azt jelenti, hogy minden egyes felhasználói kérdésnél a rendszer a kérdés </a:t>
            </a:r>
            <a:r>
              <a:rPr lang="hu-HU" dirty="0" err="1"/>
              <a:t>vektorát</a:t>
            </a:r>
            <a:r>
              <a:rPr lang="hu-HU" dirty="0"/>
              <a:t> összehasonlítja az adatbázisban lévő </a:t>
            </a:r>
            <a:r>
              <a:rPr lang="hu-HU" i="1" dirty="0"/>
              <a:t>összes</a:t>
            </a:r>
            <a:r>
              <a:rPr lang="hu-HU" dirty="0"/>
              <a:t> (akár több millió) szövegdarab </a:t>
            </a:r>
            <a:r>
              <a:rPr lang="hu-HU" dirty="0" err="1"/>
              <a:t>vektorával</a:t>
            </a:r>
            <a:r>
              <a:rPr lang="hu-HU" dirty="0"/>
              <a:t>. Ez rendkívül pontos, de nagyon lassú és számításigényes.</a:t>
            </a:r>
          </a:p>
          <a:p>
            <a:endParaRPr lang="hu-HU" dirty="0"/>
          </a:p>
          <a:p>
            <a:r>
              <a:rPr lang="hu-HU" dirty="0"/>
              <a:t>Az én javasolt módszerem a </a:t>
            </a:r>
            <a:r>
              <a:rPr lang="hu-HU" dirty="0" err="1"/>
              <a:t>klaszterezésen</a:t>
            </a:r>
            <a:r>
              <a:rPr lang="hu-HU" dirty="0"/>
              <a:t> alapul.</a:t>
            </a:r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Először is, az összes </a:t>
            </a:r>
            <a:r>
              <a:rPr lang="hu-HU" dirty="0" err="1"/>
              <a:t>embedding</a:t>
            </a:r>
            <a:r>
              <a:rPr lang="hu-HU" dirty="0"/>
              <a:t> vektort előre </a:t>
            </a:r>
            <a:r>
              <a:rPr lang="hu-HU" dirty="0" err="1"/>
              <a:t>klaszterezzük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r>
              <a:rPr lang="hu-HU" dirty="0"/>
              <a:t>2. Amikor bejön egy kérdés, először csak a klaszterek középpontjaihoz hasonlítjuk.</a:t>
            </a:r>
          </a:p>
          <a:p>
            <a:endParaRPr lang="hu-HU" dirty="0"/>
          </a:p>
          <a:p>
            <a:r>
              <a:rPr lang="hu-HU" dirty="0"/>
              <a:t>3. Miután megtaláltuk a legrelevánsabb klasztereket, a részletes, lassabb keresést már </a:t>
            </a:r>
            <a:r>
              <a:rPr lang="hu-HU" i="0" dirty="0"/>
              <a:t>csak</a:t>
            </a:r>
            <a:r>
              <a:rPr lang="hu-HU" dirty="0"/>
              <a:t> ezeken a klasztereken belül végezzük el.</a:t>
            </a:r>
          </a:p>
          <a:p>
            <a:endParaRPr lang="hu-HU" dirty="0"/>
          </a:p>
          <a:p>
            <a:r>
              <a:rPr lang="hu-HU" dirty="0"/>
              <a:t>Ez drasztikusan lecsökkenti a keresési teret. </a:t>
            </a:r>
            <a:r>
              <a:rPr lang="hu-HU" b="1" dirty="0"/>
              <a:t>Fontos kihívás </a:t>
            </a:r>
            <a:r>
              <a:rPr lang="hu-HU" dirty="0"/>
              <a:t>volt továbbá az újonnan érkező dokumentumok gyors integrálása is.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711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teljes, javasolt RAG-folyamatot mutatja be, immár a </a:t>
            </a:r>
            <a:r>
              <a:rPr lang="hu-HU" dirty="0" err="1"/>
              <a:t>klaszterezéssel</a:t>
            </a:r>
            <a:r>
              <a:rPr lang="hu-HU" dirty="0"/>
              <a:t> kiegészítve.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Query</a:t>
            </a:r>
            <a:r>
              <a:rPr lang="hu-HU" dirty="0"/>
              <a:t>’ beérkezését követően, megkeressük a legjobb klasztereket, majd azokon belül a legjobb szövegrészeket.</a:t>
            </a:r>
          </a:p>
          <a:p>
            <a:endParaRPr lang="hu-HU" dirty="0"/>
          </a:p>
          <a:p>
            <a:r>
              <a:rPr lang="hu-HU" dirty="0"/>
              <a:t>Amikor új dokumentumok érkeznek, azokat feldolgozzuk, és egy online </a:t>
            </a:r>
            <a:r>
              <a:rPr lang="hu-HU" dirty="0" err="1"/>
              <a:t>klaszterezési</a:t>
            </a:r>
            <a:r>
              <a:rPr lang="hu-HU" dirty="0"/>
              <a:t> folyamat segítségével frissítjük a klasztereket a vektoradatbázisban. Ez a kulcsa a dinamikus tudásbázisnak.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9280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Annak érdekében hogy hatékonyan tudjuk kezelni az új adatokat anélkül, hogy minden alkalommal újra kellene futtatni a teljes </a:t>
            </a:r>
            <a:r>
              <a:rPr lang="hu-HU" dirty="0" err="1"/>
              <a:t>klaszterezést</a:t>
            </a:r>
            <a:r>
              <a:rPr lang="hu-HU" dirty="0"/>
              <a:t>. Egy '</a:t>
            </a:r>
            <a:r>
              <a:rPr lang="hu-HU" dirty="0" err="1"/>
              <a:t>OnlineKMeans</a:t>
            </a:r>
            <a:r>
              <a:rPr lang="hu-HU" dirty="0"/>
              <a:t>' algoritmust valósítottam meg.</a:t>
            </a:r>
          </a:p>
          <a:p>
            <a:endParaRPr lang="hu-HU" dirty="0"/>
          </a:p>
          <a:p>
            <a:r>
              <a:rPr lang="hu-HU" dirty="0"/>
              <a:t>A rendszer '</a:t>
            </a:r>
            <a:r>
              <a:rPr lang="hu-HU" dirty="0" err="1"/>
              <a:t>KMeans</a:t>
            </a:r>
            <a:r>
              <a:rPr lang="hu-HU" dirty="0"/>
              <a:t>++' inicializálással indul, majd az új adatok érkezésekor súlyozott átlagolással frissíti a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Az algoritmus képes új klasztereket létrehozni , ha egy adat nagyon 'kilóg' a meglévőkből, és összevonni meglévő klasztereket, ha azok túl közel kerülnek egymáshoz.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Az ábrákon látszik, ahogy 250, 500, 750 majd 1000 minta hozzáadásával az algoritmus fokozatosan módosítja' a klaszterközéppontokat, új klasztereket hoz létre és meglévőket von össze.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10827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az általam implementált Online </a:t>
            </a:r>
            <a:r>
              <a:rPr lang="hu-HU" dirty="0" err="1"/>
              <a:t>KMeans</a:t>
            </a:r>
            <a:r>
              <a:rPr lang="hu-HU" dirty="0"/>
              <a:t> algoritmus </a:t>
            </a:r>
            <a:r>
              <a:rPr lang="hu-HU" dirty="0" err="1"/>
              <a:t>pszeudokódja</a:t>
            </a:r>
            <a:r>
              <a:rPr lang="hu-HU" dirty="0"/>
              <a:t> látható.</a:t>
            </a:r>
          </a:p>
          <a:p>
            <a:endParaRPr lang="hu-HU" dirty="0"/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Inicializálás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új adatpontnál megnézzük a legközelebbi </a:t>
            </a:r>
            <a:r>
              <a:rPr lang="hu-HU" dirty="0" err="1"/>
              <a:t>centroidot</a:t>
            </a:r>
            <a:r>
              <a:rPr lang="hu-HU" dirty="0"/>
              <a:t>. Ha a távolság nagyobb egy küszöbértéknél ('</a:t>
            </a:r>
            <a:r>
              <a:rPr lang="hu-HU" dirty="0" err="1"/>
              <a:t>new_cluster_threshold</a:t>
            </a:r>
            <a:r>
              <a:rPr lang="hu-HU" dirty="0"/>
              <a:t>'), akkor új klasztert hozunk létre. Különben a legközelebbihez rendeljük.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batch után frissítjük az érintett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Végül ellenőrizzük, van-e két </a:t>
            </a:r>
            <a:r>
              <a:rPr lang="hu-HU" dirty="0" err="1"/>
              <a:t>centroid</a:t>
            </a:r>
            <a:r>
              <a:rPr lang="hu-HU" dirty="0"/>
              <a:t>, ami túl közel került ('</a:t>
            </a:r>
            <a:r>
              <a:rPr lang="hu-HU" dirty="0" err="1"/>
              <a:t>merge_threshold</a:t>
            </a:r>
            <a:r>
              <a:rPr lang="hu-HU" dirty="0"/>
              <a:t>'). Ha igen, összevonjuk őket.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855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első és legfontosabb kérdés: valóban gyorsabbak-e az online módszerek? Ennek mérésére végeztem egy futásidő-elemzést.</a:t>
            </a:r>
          </a:p>
          <a:p>
            <a:endParaRPr lang="hu-HU" dirty="0"/>
          </a:p>
          <a:p>
            <a:r>
              <a:rPr lang="hu-HU" dirty="0"/>
              <a:t>A kísérletben a </a:t>
            </a:r>
            <a:r>
              <a:rPr lang="hu-HU" dirty="0" err="1"/>
              <a:t>SQuAD</a:t>
            </a:r>
            <a:r>
              <a:rPr lang="hu-HU" dirty="0"/>
              <a:t> adathalmazból származó 84 ezer </a:t>
            </a:r>
            <a:r>
              <a:rPr lang="hu-HU" dirty="0" err="1"/>
              <a:t>embedding</a:t>
            </a:r>
            <a:r>
              <a:rPr lang="hu-HU" dirty="0"/>
              <a:t> vektort </a:t>
            </a:r>
            <a:r>
              <a:rPr lang="hu-HU" dirty="0" err="1"/>
              <a:t>klasztereztem</a:t>
            </a:r>
            <a:r>
              <a:rPr lang="hu-HU" dirty="0"/>
              <a:t>, egyre növekvő klaszterszámmal.</a:t>
            </a:r>
          </a:p>
          <a:p>
            <a:endParaRPr lang="hu-HU" dirty="0"/>
          </a:p>
          <a:p>
            <a:r>
              <a:rPr lang="hu-HU" dirty="0"/>
              <a:t>Három algoritmust hasonlítottam össze: a hagyományos '</a:t>
            </a:r>
            <a:r>
              <a:rPr lang="hu-HU" dirty="0" err="1"/>
              <a:t>KMeans</a:t>
            </a:r>
            <a:r>
              <a:rPr lang="hu-HU" dirty="0"/>
              <a:t>'-t , a '</a:t>
            </a:r>
            <a:r>
              <a:rPr lang="hu-HU" dirty="0" err="1"/>
              <a:t>MiniBatchKMeans</a:t>
            </a:r>
            <a:r>
              <a:rPr lang="hu-HU" dirty="0"/>
              <a:t>'-t (ami a </a:t>
            </a:r>
            <a:r>
              <a:rPr lang="hu-HU" dirty="0" err="1"/>
              <a:t>KMeans</a:t>
            </a:r>
            <a:r>
              <a:rPr lang="hu-HU" dirty="0"/>
              <a:t> egy gyorsított változata), és az általam implementált '</a:t>
            </a:r>
            <a:r>
              <a:rPr lang="hu-HU" dirty="0" err="1"/>
              <a:t>OnlineKMeans</a:t>
            </a:r>
            <a:r>
              <a:rPr lang="hu-HU" dirty="0"/>
              <a:t>'-t.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3707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felső ábrán a piros vonal (</a:t>
            </a:r>
            <a:r>
              <a:rPr lang="hu-HU" dirty="0" err="1"/>
              <a:t>KMeans</a:t>
            </a:r>
            <a:r>
              <a:rPr lang="hu-HU" dirty="0"/>
              <a:t>) futásideje, mint látható sokkal lassabb mint a másik kettő algoritmus.</a:t>
            </a:r>
          </a:p>
          <a:p>
            <a:r>
              <a:rPr lang="hu-HU" dirty="0"/>
              <a:t>Szaggatott vonal 384D, másik pedig 1024D</a:t>
            </a:r>
          </a:p>
          <a:p>
            <a:endParaRPr lang="hu-HU" dirty="0"/>
          </a:p>
          <a:p>
            <a:r>
              <a:rPr lang="hu-HU" dirty="0"/>
              <a:t>Ez pedig az előző ábra alsó része nagyítva a 'gyors' algoritmusokra. A zöld (</a:t>
            </a:r>
            <a:r>
              <a:rPr lang="hu-HU" dirty="0" err="1"/>
              <a:t>OnlineKMeans</a:t>
            </a:r>
            <a:r>
              <a:rPr lang="hu-HU" dirty="0"/>
              <a:t>) és a kék (</a:t>
            </a:r>
            <a:r>
              <a:rPr lang="hu-HU" dirty="0" err="1"/>
              <a:t>MiniBatchKMeans</a:t>
            </a:r>
            <a:r>
              <a:rPr lang="hu-HU" dirty="0"/>
              <a:t>) vonalak alig emelkednek.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és a </a:t>
            </a:r>
            <a:r>
              <a:rPr lang="hu-HU" dirty="0" err="1"/>
              <a:t>MiniBatchKMeans</a:t>
            </a:r>
            <a:r>
              <a:rPr lang="hu-HU" dirty="0"/>
              <a:t> sokkal gyorsabb, mint a hagyományos </a:t>
            </a:r>
            <a:r>
              <a:rPr lang="hu-HU" dirty="0" err="1"/>
              <a:t>KMeans</a:t>
            </a:r>
            <a:r>
              <a:rPr lang="hu-HU" dirty="0"/>
              <a:t>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dolgozatban </a:t>
            </a:r>
            <a:r>
              <a:rPr lang="hu-HU" dirty="0" err="1"/>
              <a:t>KMeans</a:t>
            </a:r>
            <a:r>
              <a:rPr lang="hu-HU" dirty="0"/>
              <a:t>, </a:t>
            </a:r>
            <a:r>
              <a:rPr lang="hu-HU" dirty="0" err="1"/>
              <a:t>MiniBatchKMeans</a:t>
            </a:r>
            <a:r>
              <a:rPr lang="hu-HU" dirty="0"/>
              <a:t> esetén </a:t>
            </a:r>
            <a:r>
              <a:rPr lang="hu-HU" dirty="0" err="1"/>
              <a:t>n_init</a:t>
            </a:r>
            <a:r>
              <a:rPr lang="hu-HU" dirty="0"/>
              <a:t>=10 volt, hogy a stabil és pontos </a:t>
            </a:r>
            <a:r>
              <a:rPr lang="hu-HU" dirty="0" err="1"/>
              <a:t>klaszterezést</a:t>
            </a:r>
            <a:r>
              <a:rPr lang="hu-HU" dirty="0"/>
              <a:t> adjanak.</a:t>
            </a:r>
          </a:p>
          <a:p>
            <a:r>
              <a:rPr lang="hu-HU" dirty="0"/>
              <a:t>Ezt most </a:t>
            </a:r>
            <a:r>
              <a:rPr lang="hu-HU" dirty="0" err="1"/>
              <a:t>újraszámoltam</a:t>
            </a:r>
            <a:r>
              <a:rPr lang="hu-HU" dirty="0"/>
              <a:t> </a:t>
            </a:r>
            <a:r>
              <a:rPr lang="hu-HU" dirty="0" err="1"/>
              <a:t>n_init</a:t>
            </a:r>
            <a:r>
              <a:rPr lang="hu-HU" dirty="0"/>
              <a:t>=„</a:t>
            </a:r>
            <a:r>
              <a:rPr lang="hu-HU" dirty="0" err="1"/>
              <a:t>auto</a:t>
            </a:r>
            <a:r>
              <a:rPr lang="hu-HU" dirty="0"/>
              <a:t>”-</a:t>
            </a:r>
            <a:r>
              <a:rPr lang="hu-HU" dirty="0" err="1"/>
              <a:t>val</a:t>
            </a:r>
            <a:r>
              <a:rPr lang="hu-HU" dirty="0"/>
              <a:t>, ez van a dián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771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sebesség önmagában nem minden. Vizsgáljuk meg a pontosságot? Egy gyors, de rossz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dirty="0" err="1"/>
              <a:t>tönkretenné</a:t>
            </a:r>
            <a:r>
              <a:rPr lang="hu-HU" dirty="0"/>
              <a:t> a RAG rendszerünket.</a:t>
            </a:r>
          </a:p>
          <a:p>
            <a:endParaRPr lang="hu-HU" dirty="0"/>
          </a:p>
          <a:p>
            <a:r>
              <a:rPr lang="hu-HU" dirty="0"/>
              <a:t>A pontosság méréséhez szintetikus adathalmazt generáltam, ahol </a:t>
            </a:r>
            <a:r>
              <a:rPr lang="hu-HU" i="1" dirty="0"/>
              <a:t>pontosan tudtam</a:t>
            </a:r>
            <a:r>
              <a:rPr lang="hu-HU" dirty="0"/>
              <a:t>, hogy melyik adatpont melyik klaszterbe tartozik.</a:t>
            </a:r>
          </a:p>
          <a:p>
            <a:endParaRPr lang="hu-HU" dirty="0"/>
          </a:p>
          <a:p>
            <a:r>
              <a:rPr lang="hu-HU" dirty="0"/>
              <a:t>500 dimenziós vektorokat hoztam létre, 10 000 adatponttal , különböző klaszterszámokkal (200-tól 800-ig) , és minden klaszterszámhoz különböző szórással is elvégeztem a mérést (minél nagyobb a szórás, annál 'egybe-</a:t>
            </a:r>
            <a:r>
              <a:rPr lang="hu-HU" dirty="0" err="1"/>
              <a:t>folytabbak</a:t>
            </a:r>
            <a:r>
              <a:rPr lang="hu-HU" dirty="0"/>
              <a:t>', nehezebben elkülöníthetők a klaszterek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4928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táblázat a pontossági eredményeket mutatja két metrika (ARI és NMI) alapján. Az 1.0 a tökéletes egyezést jelenti.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képes megtartani a klasszikus </a:t>
            </a:r>
            <a:r>
              <a:rPr lang="hu-HU" dirty="0" err="1"/>
              <a:t>Kmeans-hez</a:t>
            </a:r>
            <a:r>
              <a:rPr lang="hu-HU" dirty="0"/>
              <a:t> közeli pontosságot, míg a </a:t>
            </a:r>
            <a:r>
              <a:rPr lang="hu-HU" dirty="0" err="1"/>
              <a:t>MiniBatchKMeans</a:t>
            </a:r>
            <a:r>
              <a:rPr lang="hu-HU" dirty="0"/>
              <a:t> teljesítménye </a:t>
            </a:r>
            <a:r>
              <a:rPr lang="hu-HU" b="1" dirty="0"/>
              <a:t>streaming</a:t>
            </a:r>
            <a:r>
              <a:rPr lang="hu-HU" dirty="0"/>
              <a:t> környezetben leromlik.</a:t>
            </a:r>
          </a:p>
          <a:p>
            <a:endParaRPr lang="hu-HU" dirty="0"/>
          </a:p>
          <a:p>
            <a:r>
              <a:rPr lang="hu-HU" dirty="0" err="1"/>
              <a:t>MiniBatchKMeans</a:t>
            </a:r>
            <a:r>
              <a:rPr lang="hu-HU" dirty="0"/>
              <a:t> gyenge, ha sok klaszter és magas dimenziójú adatok vannak, mert </a:t>
            </a:r>
            <a:r>
              <a:rPr lang="hu-HU" b="1" dirty="0"/>
              <a:t>a kis minibatchek nem reprezentálják megfelelően az összes klasztert</a:t>
            </a:r>
            <a:r>
              <a:rPr lang="hu-HU" dirty="0"/>
              <a:t>, így a </a:t>
            </a:r>
            <a:r>
              <a:rPr lang="hu-HU" b="1" dirty="0" err="1"/>
              <a:t>centroidok</a:t>
            </a:r>
            <a:r>
              <a:rPr lang="hu-HU" b="1" dirty="0"/>
              <a:t> instabilan frissülnek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ARI: A modell által képzett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b="1" dirty="0"/>
              <a:t>mennyire egyezik meg a valódi címkékkel</a:t>
            </a:r>
            <a:r>
              <a:rPr lang="hu-HU" dirty="0"/>
              <a:t>, véletlenszerű egyezéstől korrigálva.</a:t>
            </a:r>
          </a:p>
          <a:p>
            <a:endParaRPr lang="hu-HU" dirty="0"/>
          </a:p>
          <a:p>
            <a:r>
              <a:rPr lang="hu-HU" dirty="0"/>
              <a:t>NMI: A modell klaszterei és a valódi címkék </a:t>
            </a:r>
            <a:r>
              <a:rPr lang="hu-HU" b="1" dirty="0"/>
              <a:t>mennyi közös információt tartalmaznak</a:t>
            </a:r>
            <a:r>
              <a:rPr lang="hu-HU" dirty="0"/>
              <a:t>, azaz mennyire jól egyeznek egymással normalizált skálán (0–1 között)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7703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meg, hogyan teljesítenek az algoritmusok az éles RAG rendszerben.</a:t>
            </a:r>
          </a:p>
          <a:p>
            <a:endParaRPr lang="hu-HU" dirty="0"/>
          </a:p>
          <a:p>
            <a:r>
              <a:rPr lang="hu-HU" dirty="0"/>
              <a:t>A cél az volt, hogy mind a 87 ezer </a:t>
            </a:r>
            <a:r>
              <a:rPr lang="hu-HU" dirty="0" err="1"/>
              <a:t>SQuAD</a:t>
            </a:r>
            <a:r>
              <a:rPr lang="hu-HU" dirty="0"/>
              <a:t> kérdéshez megtaláljam a helyes választ tartalmazó szövegrészletet.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1182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Először </a:t>
            </a:r>
            <a:r>
              <a:rPr lang="hu-HU" dirty="0" err="1"/>
              <a:t>accuracy</a:t>
            </a:r>
            <a:r>
              <a:rPr lang="hu-HU" dirty="0"/>
              <a:t> tekintetében. </a:t>
            </a:r>
          </a:p>
          <a:p>
            <a:r>
              <a:rPr lang="hu-HU" dirty="0"/>
              <a:t>Visszatérített </a:t>
            </a:r>
            <a:r>
              <a:rPr lang="hu-HU" dirty="0" err="1"/>
              <a:t>embeddingek</a:t>
            </a:r>
            <a:r>
              <a:rPr lang="hu-HU" dirty="0"/>
              <a:t> számának függvényében látható a pontosság.</a:t>
            </a:r>
          </a:p>
          <a:p>
            <a:endParaRPr lang="hu-HU" dirty="0"/>
          </a:p>
          <a:p>
            <a:r>
              <a:rPr lang="hu-HU" dirty="0"/>
              <a:t>Három módszert vetettem össze: '</a:t>
            </a:r>
            <a:r>
              <a:rPr lang="hu-HU" dirty="0" err="1"/>
              <a:t>Clustering-based</a:t>
            </a:r>
            <a:r>
              <a:rPr lang="hu-HU" dirty="0"/>
              <a:t>' (az én módszerem),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(minden vektort összehasonlít), és 'FAISS' (egy iparági sztenderd, gyors keresőkönyvtár).</a:t>
            </a:r>
          </a:p>
          <a:p>
            <a:endParaRPr lang="hu-HU" dirty="0"/>
          </a:p>
          <a:p>
            <a:r>
              <a:rPr lang="hu-HU" dirty="0"/>
              <a:t>Facebook AI </a:t>
            </a:r>
            <a:r>
              <a:rPr lang="hu-HU" dirty="0" err="1"/>
              <a:t>Similarity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Hierarchical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Navigable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Small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World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graphs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– gráfalapú közelítő keresés</a:t>
            </a:r>
          </a:p>
          <a:p>
            <a:endParaRPr lang="hu-HU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dirty="0"/>
              <a:t>A '</a:t>
            </a:r>
            <a:r>
              <a:rPr lang="hu-HU" dirty="0" err="1"/>
              <a:t>Clustering-based</a:t>
            </a:r>
            <a:r>
              <a:rPr lang="hu-HU" dirty="0"/>
              <a:t>' (bal oldali ábra) pontossága és </a:t>
            </a:r>
            <a:r>
              <a:rPr lang="hu-HU" dirty="0" err="1"/>
              <a:t>recall</a:t>
            </a:r>
            <a:r>
              <a:rPr lang="hu-HU" dirty="0"/>
              <a:t>-ja szinte tökéletesen megegyezik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és a 'FAISS' eredményeivel. Ez azt jelenti, hogy </a:t>
            </a:r>
            <a:r>
              <a:rPr lang="hu-HU" b="1" dirty="0"/>
              <a:t>a pontosság terén nem kötöttünk kompromisszumot.</a:t>
            </a:r>
          </a:p>
          <a:p>
            <a:endParaRPr lang="hu-HU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Ugyanez az eredmény látható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tekinetében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is.</a:t>
            </a:r>
          </a:p>
          <a:p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=TP / (TP + FN). A </a:t>
            </a:r>
            <a:r>
              <a:rPr lang="hu-HU" dirty="0"/>
              <a:t>valódi pozitív esetek közül </a:t>
            </a:r>
            <a:r>
              <a:rPr lang="hu-HU" b="1" dirty="0"/>
              <a:t>hányat talált meg helyesen a modell</a:t>
            </a:r>
            <a:r>
              <a:rPr lang="hu-HU" dirty="0"/>
              <a:t>.</a:t>
            </a:r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72070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visszakeresés </a:t>
            </a:r>
            <a:r>
              <a:rPr lang="hu-HU" i="1" dirty="0"/>
              <a:t>idejét</a:t>
            </a:r>
            <a:r>
              <a:rPr lang="hu-HU" dirty="0"/>
              <a:t> mutatja másodpercben egy darab </a:t>
            </a:r>
            <a:r>
              <a:rPr lang="hu-HU" dirty="0" err="1"/>
              <a:t>query-hez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(kék) kb. 0.11 másodperc kérdésenként.</a:t>
            </a:r>
          </a:p>
          <a:p>
            <a:endParaRPr lang="hu-HU" dirty="0"/>
          </a:p>
          <a:p>
            <a:r>
              <a:rPr lang="hu-HU" dirty="0"/>
              <a:t>A 'FAISS' (narancs) és a mi '</a:t>
            </a:r>
            <a:r>
              <a:rPr lang="hu-HU" dirty="0" err="1"/>
              <a:t>Clustering-based</a:t>
            </a:r>
            <a:r>
              <a:rPr lang="hu-HU" dirty="0"/>
              <a:t>' (zöld) módszerünk ezzel szemben 0.02-0.04 másodperc között teljesít.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klaszterezés</a:t>
            </a:r>
            <a:r>
              <a:rPr lang="hu-HU" dirty="0"/>
              <a:t>-alapú módszer minimálisan gyengébb </a:t>
            </a:r>
            <a:r>
              <a:rPr lang="hu-HU" b="1" dirty="0"/>
              <a:t>pontosságot hozza, mint a </a:t>
            </a:r>
            <a:r>
              <a:rPr lang="hu-HU" b="1" dirty="0" err="1"/>
              <a:t>Brute</a:t>
            </a:r>
            <a:r>
              <a:rPr lang="hu-HU" b="1" dirty="0"/>
              <a:t> </a:t>
            </a:r>
            <a:r>
              <a:rPr lang="hu-HU" b="1" dirty="0" err="1"/>
              <a:t>Force</a:t>
            </a:r>
            <a:r>
              <a:rPr lang="hu-HU" b="1" dirty="0"/>
              <a:t>, de 3-5x gyorsabban.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14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utolsó, és talán legfontosabb kísérlet a dinamikusan változó adathalmaz vizsgálata volt. Mi történik, ha folyamatosan érkeznek új adatok?</a:t>
            </a:r>
          </a:p>
          <a:p>
            <a:endParaRPr lang="hu-HU" dirty="0"/>
          </a:p>
          <a:p>
            <a:r>
              <a:rPr lang="hu-HU" dirty="0"/>
              <a:t>A kísérletben az adatok 50%-án inicializáltam a rendszereket , majd a maradék 50%-ot 2000-es 'batch'-</a:t>
            </a:r>
            <a:r>
              <a:rPr lang="hu-HU" dirty="0" err="1"/>
              <a:t>ekben</a:t>
            </a:r>
            <a:r>
              <a:rPr lang="hu-HU" dirty="0"/>
              <a:t>, fokozatosan adtam hozzájuk, mintha új dokumentumok érkeznének.</a:t>
            </a:r>
          </a:p>
          <a:p>
            <a:endParaRPr lang="hu-HU" dirty="0"/>
          </a:p>
          <a:p>
            <a:r>
              <a:rPr lang="hu-HU" dirty="0"/>
              <a:t>Itt már összehasonlítottam az '</a:t>
            </a:r>
            <a:r>
              <a:rPr lang="hu-HU" dirty="0" err="1"/>
              <a:t>OnlineKMeans</a:t>
            </a:r>
            <a:r>
              <a:rPr lang="hu-HU" dirty="0"/>
              <a:t>'-t a '</a:t>
            </a:r>
            <a:r>
              <a:rPr lang="hu-HU" dirty="0" err="1"/>
              <a:t>KMeans</a:t>
            </a:r>
            <a:r>
              <a:rPr lang="hu-HU" dirty="0"/>
              <a:t>'-szel (aminek minden batch után teljesen újra kell futnia) és ahogy a korábbiakban is a 'FAISS'-szel és </a:t>
            </a:r>
            <a:r>
              <a:rPr lang="hu-HU" dirty="0" err="1"/>
              <a:t>MiniBatchKMeans</a:t>
            </a:r>
            <a:r>
              <a:rPr lang="hu-HU" dirty="0"/>
              <a:t>-szel is.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92941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először a pontosságot.</a:t>
            </a:r>
          </a:p>
          <a:p>
            <a:endParaRPr lang="hu-HU" dirty="0"/>
          </a:p>
          <a:p>
            <a:r>
              <a:rPr lang="hu-HU" dirty="0"/>
              <a:t>Ez az ábra mutatja a pontosságot (</a:t>
            </a:r>
            <a:r>
              <a:rPr lang="hu-HU" dirty="0" err="1"/>
              <a:t>Accuracy</a:t>
            </a:r>
            <a:r>
              <a:rPr lang="hu-HU" dirty="0"/>
              <a:t> ) az idő függvényében, ahogy egyre több batch-</a:t>
            </a:r>
            <a:r>
              <a:rPr lang="hu-HU" dirty="0" err="1"/>
              <a:t>et</a:t>
            </a:r>
            <a:r>
              <a:rPr lang="hu-HU" dirty="0"/>
              <a:t> adunk hozzá a tudásbázishoz.</a:t>
            </a:r>
          </a:p>
          <a:p>
            <a:endParaRPr lang="hu-HU" dirty="0"/>
          </a:p>
          <a:p>
            <a:r>
              <a:rPr lang="hu-HU" dirty="0"/>
              <a:t>A zöld (FAISS) a legjobb, ami várható. De nézzük a </a:t>
            </a:r>
            <a:r>
              <a:rPr lang="hu-HU" dirty="0" err="1"/>
              <a:t>klaszterezőket</a:t>
            </a:r>
            <a:r>
              <a:rPr lang="hu-HU" dirty="0"/>
              <a:t>: A </a:t>
            </a:r>
            <a:r>
              <a:rPr lang="hu-HU" dirty="0" err="1"/>
              <a:t>KMeans</a:t>
            </a:r>
            <a:r>
              <a:rPr lang="hu-HU" dirty="0"/>
              <a:t>' (narancs) mindkét ábrán stabilan jobban teljesít, mint az ‚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(kék).</a:t>
            </a:r>
          </a:p>
          <a:p>
            <a:endParaRPr lang="hu-HU" dirty="0"/>
          </a:p>
          <a:p>
            <a:r>
              <a:rPr lang="hu-HU" dirty="0"/>
              <a:t>Beérkező batchek függvényében </a:t>
            </a:r>
            <a:r>
              <a:rPr lang="hu-HU" b="1" dirty="0"/>
              <a:t>nem romlik le drasztikusan </a:t>
            </a:r>
            <a:r>
              <a:rPr lang="hu-HU" dirty="0"/>
              <a:t>sem az </a:t>
            </a:r>
            <a:r>
              <a:rPr lang="hu-HU" dirty="0" err="1"/>
              <a:t>accuracy</a:t>
            </a:r>
            <a:r>
              <a:rPr lang="hu-HU" dirty="0"/>
              <a:t> sem a </a:t>
            </a:r>
            <a:r>
              <a:rPr lang="hu-HU" dirty="0" err="1"/>
              <a:t>recall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Recall</a:t>
            </a:r>
            <a:r>
              <a:rPr lang="hu-HU" dirty="0"/>
              <a:t>-t tekintve ugyanezt a kimenetet láthatjuk.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1850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Nézzük meg a frissítési időt, ami azt mutatja meg.</a:t>
            </a:r>
          </a:p>
          <a:p>
            <a:endParaRPr lang="hu-HU" dirty="0"/>
          </a:p>
          <a:p>
            <a:r>
              <a:rPr lang="hu-HU" dirty="0"/>
              <a:t>Mennyi ideig tart a </a:t>
            </a:r>
            <a:r>
              <a:rPr lang="hu-HU" dirty="0" err="1"/>
              <a:t>klaszterezés</a:t>
            </a:r>
            <a:r>
              <a:rPr lang="hu-HU" dirty="0"/>
              <a:t> frissítése.</a:t>
            </a:r>
          </a:p>
          <a:p>
            <a:endParaRPr lang="hu-HU" dirty="0"/>
          </a:p>
          <a:p>
            <a:r>
              <a:rPr lang="hu-HU" dirty="0"/>
              <a:t>A narancssárga vonal a '</a:t>
            </a:r>
            <a:r>
              <a:rPr lang="hu-HU" dirty="0" err="1"/>
              <a:t>KMeans</a:t>
            </a:r>
            <a:r>
              <a:rPr lang="hu-HU" dirty="0"/>
              <a:t>'. Mivel minden alkalommal a </a:t>
            </a:r>
            <a:r>
              <a:rPr lang="hu-HU" i="1" dirty="0"/>
              <a:t>teljes</a:t>
            </a:r>
            <a:r>
              <a:rPr lang="hu-HU" dirty="0"/>
              <a:t> adathalmazon újra kell futnia, nagyon lassú lesz, ez streaming adatokkal nem használható.</a:t>
            </a:r>
          </a:p>
          <a:p>
            <a:endParaRPr lang="hu-HU" dirty="0"/>
          </a:p>
          <a:p>
            <a:r>
              <a:rPr lang="hu-HU" dirty="0"/>
              <a:t>Itt látjuk a gyors algoritmusokat. A 'FAISS' (zöld) gyors, de az '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 azonban </a:t>
            </a:r>
            <a:r>
              <a:rPr lang="hu-HU" i="1" dirty="0"/>
              <a:t>extrém gyorsak és </a:t>
            </a:r>
            <a:r>
              <a:rPr lang="hu-HU" i="1" dirty="0" err="1"/>
              <a:t>stabilak</a:t>
            </a:r>
            <a:r>
              <a:rPr lang="hu-HU" dirty="0"/>
              <a:t>, 0.1 másodperc alatt maradnak, így teljesen alkalmasak streaming környezetben való használatra.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573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Megvalósítottunk egy '</a:t>
            </a:r>
            <a:r>
              <a:rPr lang="hu-HU" dirty="0" err="1"/>
              <a:t>OnlineKMeans</a:t>
            </a:r>
            <a:r>
              <a:rPr lang="hu-HU" dirty="0"/>
              <a:t>' algoritmust , ami egy hatékony </a:t>
            </a:r>
            <a:r>
              <a:rPr lang="hu-HU"/>
              <a:t>megoldást nyújt </a:t>
            </a:r>
            <a:r>
              <a:rPr lang="hu-HU" dirty="0"/>
              <a:t>újonnan érkező adatpontok gyors integrálására.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 err="1"/>
              <a:t>Bebizonyosult</a:t>
            </a:r>
            <a:r>
              <a:rPr lang="hu-HU" dirty="0"/>
              <a:t>, hogy a </a:t>
            </a:r>
            <a:r>
              <a:rPr lang="hu-HU" dirty="0" err="1"/>
              <a:t>klaszterezés</a:t>
            </a:r>
            <a:r>
              <a:rPr lang="hu-HU" dirty="0"/>
              <a:t>-alapú visszakeresés hatékony alternatívája a </a:t>
            </a:r>
            <a:r>
              <a:rPr lang="hu-HU" dirty="0" err="1"/>
              <a:t>brute-force</a:t>
            </a:r>
            <a:r>
              <a:rPr lang="hu-HU" dirty="0"/>
              <a:t> keresésnek, </a:t>
            </a:r>
            <a:r>
              <a:rPr lang="hu-HU" b="1" dirty="0"/>
              <a:t>minimálisan gyengébb pontosságot nyújt jelentősen gyorsabb keresési idő mellett</a:t>
            </a:r>
            <a:r>
              <a:rPr lang="hu-HU" dirty="0"/>
              <a:t>.</a:t>
            </a:r>
          </a:p>
          <a:p>
            <a:r>
              <a:rPr lang="hu-HU" dirty="0"/>
              <a:t>Képes felvenni a versenyt bizonyos helyzetekben a FAISS indexszel.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Jövőbeli fejlesztésként szeretném megvalósítani az </a:t>
            </a:r>
            <a:r>
              <a:rPr lang="hu-HU" dirty="0" err="1"/>
              <a:t>OnlineKMEans</a:t>
            </a:r>
            <a:r>
              <a:rPr lang="hu-HU" dirty="0"/>
              <a:t> egy olyan új funkcióját, hogy a már meglévő klasztereket ne csak összevonni tudja, hanem felbontani is ha a klaszterek szórása túlságosan megnő.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95401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Köszönöm szépen a figyelmet! </a:t>
            </a:r>
          </a:p>
          <a:p>
            <a:endParaRPr lang="hu-HU" dirty="0"/>
          </a:p>
          <a:p>
            <a:r>
              <a:rPr lang="hu-HU" dirty="0"/>
              <a:t>És várom a kérdéseket.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1281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215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4DB2B-8DEF-2080-F11C-465FD434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0135B9-F6BB-323C-16DB-A499A7DC8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0EC609-60CE-4350-E413-7FDC500D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21B2-F76C-DA4E-93C7-1ED776993694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D0B685-2D51-EC98-5512-ADA60579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718B57-9AD5-F8B1-7D62-6C17616A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0109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ECF2C6-9A46-26C0-C82F-1AA66FB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08F35-F4ED-DD84-DB4B-08C7B091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9BC9F9-FE85-CD53-532C-2AC7ABE7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5E67FB-FBFF-CF0C-CD26-0808780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1F5668-D494-D40D-4572-EBD0DE2C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98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D7D912-7FB2-707D-4A95-BE6D918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A09965-A8C0-57B4-EA3E-9D8BEE514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DCE928-BAB9-6766-9725-B5C56187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8A03-143C-DC48-B6FB-03520BF3D264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F8346E-83CB-DFF1-BE9F-EA269F6A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3C63F5-010B-97CF-A6DB-D9CE184B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449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4EC0E3-0F3D-C52A-737C-3F0EAE17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3E74A1-A246-260F-3BB3-CC63041E2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C7370C1-A55B-4347-9AFF-FBB7C7DB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B944EE-1BCA-4350-F5E3-E74400E5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DABD-02F3-C24D-B459-BA5A52C7C0D3}" type="datetime1">
              <a:rPr lang="hu-HU" smtClean="0"/>
              <a:t>2025. 11. 12.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DD111C8-FFDD-AD48-1F1C-C1D5E031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5E365C-7E1D-964A-F5BD-242E24C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09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DD2C5-25D5-03F8-F0B5-2D834517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D00EE9-0968-8C1C-9DFE-FCCAFA35E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C6633E-DB2F-4E35-6FF5-E9871528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DD64006-2C03-7143-B016-A2F4F3E2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049EE41-4C75-3885-16E2-420BF437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F8C02EA-55F4-5050-B8CD-28A0797D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65F1-11A6-C146-8C9C-4EAD2B21F502}" type="datetime1">
              <a:rPr lang="hu-HU" smtClean="0"/>
              <a:t>2025. 11. 12.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EA56DC6-3AEF-250F-41B9-259623F4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687F30-7E14-114B-C70F-CF485CB6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339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34E4A-294A-C3DC-A26B-804DA671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109F264-4028-4C48-80B8-2CE954E5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F671-323E-D34A-8D4F-5155E3541BC7}" type="datetime1">
              <a:rPr lang="hu-HU" smtClean="0"/>
              <a:t>2025. 11. 12.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8EE7FD6-BE4D-B54F-C44C-B46ED0E9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5EB0A85-D335-E07A-B9FD-7762BEE7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57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B8FE99-87E4-CE9E-0204-2086B16A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B417-D9D9-C740-B221-44D378005732}" type="datetime1">
              <a:rPr lang="hu-HU" smtClean="0"/>
              <a:t>2025. 11. 12.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36B521C-2A39-F3BF-0344-69AF5661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AC11E4-41B0-8958-838C-DB5DA76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307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BBEBCA-9137-494C-DE47-D6E4105C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851373-52A0-A154-6D22-0DF9BF2F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341CCE-5FBC-E08F-AC03-AB7651FF6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4EC641-5857-545B-2AE6-EB903C8C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F3EA-3925-E241-9F9A-1E3EF43D2F81}" type="datetime1">
              <a:rPr lang="hu-HU" smtClean="0"/>
              <a:t>2025. 11. 12.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0D02E3-A25F-EA0F-B7C0-03B5DE5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E99EED-022D-0343-CEFD-53F0984D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640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BDE40E-CDF9-03AB-1881-714B792F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28AD9E0-FC0E-1BDE-A150-484164A32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B01F831-4CD3-EB3C-BFEA-D38B52A3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84EB230-CFD0-14C5-8666-82F98A3E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B74F7-95E0-1C4A-BBFA-D3DEF04605D4}" type="datetime1">
              <a:rPr lang="hu-HU" smtClean="0"/>
              <a:t>2025. 11. 12.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E63473-501A-4B53-ED84-EF20021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35C4E8-A16D-C025-3ADF-18E56759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915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80F146-820D-3614-D4B6-AA5EC5D2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F19BF5-021D-31DB-E02E-E6C8F7FD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5EA86F-CAF9-4C40-D15F-19E89F13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617D-633B-144B-B338-1A3186D94DEC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322BA5-50F8-4603-D4F8-DF474B31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37B239-93B1-F8A2-F7FE-B9A1399F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01E548B-19CA-9464-3B87-0BC2A3039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5D9155-C809-5256-8273-A47769230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946F68-DFF0-22FD-5981-51D527B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C74A-E794-5D4C-99F0-E0908F250C85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6CBAED-2D0B-C1A8-24B8-6EA4F129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F7CBFF9-FC11-30AE-A40E-6458F24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7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8F09FF2-7741-43DF-79AA-10D5CB26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FFF5B2-37C4-8C87-5666-64A079D6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98144B-91D0-2412-B4E5-5993F321C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DB062-3C69-2A49-980E-3FE962CDF110}" type="datetime1">
              <a:rPr lang="hu-HU" smtClean="0"/>
              <a:t>2025. 11. 12.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6A45CC-E416-D676-0924-83E1F878D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725B3B-ADD0-88C9-63BF-F659E0CE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C5385-442F-994D-B617-1C3CED302E24}" type="slidenum">
              <a:rPr lang="hu-HU" smtClean="0"/>
              <a:pPr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0466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hari4om/word-embedding-d816f643140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1606.05250" TargetMode="External"/><Relationship Id="rId4" Type="http://schemas.openxmlformats.org/officeDocument/2006/relationships/hyperlink" Target="https://towardsdatascience.com/cosine-similarity-how-does-it-measure-the-similarity-maths-behind-and-usage-in-python-50ad30aad7d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C7F701-9F55-4F13-1103-DD725E159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hu-HU" sz="4800" b="1" dirty="0" err="1">
                <a:solidFill>
                  <a:srgbClr val="000000"/>
                </a:solidFill>
                <a:effectLst/>
                <a:latin typeface="+mn-lt"/>
              </a:rPr>
              <a:t>Klaszterezési</a:t>
            </a: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 stratégiák alkalmazása RAG rendszerek</a:t>
            </a:r>
            <a:b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hu-HU" sz="4800" b="1" dirty="0">
                <a:solidFill>
                  <a:srgbClr val="000000"/>
                </a:solidFill>
                <a:effectLst/>
                <a:latin typeface="+mn-lt"/>
              </a:rPr>
              <a:t>hatékonyságának növelésére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D226D7-1AA8-F259-77E0-A48544EC3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725987"/>
            <a:ext cx="3946779" cy="103822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Készítette: Czotter Benedek</a:t>
            </a:r>
          </a:p>
          <a:p>
            <a:pPr algn="l"/>
            <a:r>
              <a:rPr lang="hu-HU" dirty="0"/>
              <a:t>Konzulens: Dr. Szűcs Gábor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Kép 4" descr="A képen szöveg, Betűtípus, képernyőkép, fehér látható&#10;&#10;Automatikusan generált leírás">
            <a:extLst>
              <a:ext uri="{FF2B5EF4-FFF2-40B4-BE49-F238E27FC236}">
                <a16:creationId xmlns:a16="http://schemas.microsoft.com/office/drawing/2014/main" id="{E02A3AAA-EFD7-37E9-C416-21F3E14C7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1" y="14518"/>
            <a:ext cx="3759200" cy="1829416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E26808C-007D-18B7-F970-A5244A42C278}"/>
              </a:ext>
            </a:extLst>
          </p:cNvPr>
          <p:cNvSpPr txBox="1"/>
          <p:nvPr/>
        </p:nvSpPr>
        <p:spPr>
          <a:xfrm>
            <a:off x="838199" y="4619624"/>
            <a:ext cx="5833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Tudományos Diákköri Konferencia</a:t>
            </a:r>
            <a:br>
              <a:rPr lang="hu-HU" sz="2000" dirty="0"/>
            </a:br>
            <a:r>
              <a:rPr lang="hu-HU" sz="200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70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6A5C5B-9E91-0643-44A3-847AC21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Retrieval Augmented Generation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6484474F-5500-8FDB-CF4B-D9EE49C3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9E4F3-2471-F946-A10E-F965F7F15FF3}" type="datetime1">
              <a:rPr lang="hu-HU" smtClean="0"/>
              <a:t>2025. 11. 12.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212F9E-E412-BF89-1EF4-37D10781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</a:t>
            </a:fld>
            <a:r>
              <a:rPr lang="hu-HU" dirty="0"/>
              <a:t>/22</a:t>
            </a:r>
          </a:p>
        </p:txBody>
      </p:sp>
      <p:pic>
        <p:nvPicPr>
          <p:cNvPr id="8" name="Tartalom helye 7" descr="A képen képernyőkép, diagram, tervezés látható&#10;&#10;Automatikusan generált leírás">
            <a:extLst>
              <a:ext uri="{FF2B5EF4-FFF2-40B4-BE49-F238E27FC236}">
                <a16:creationId xmlns:a16="http://schemas.microsoft.com/office/drawing/2014/main" id="{E043B924-4C80-516D-1A7B-4465CF443A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01" y="2276108"/>
            <a:ext cx="11887200" cy="3471104"/>
          </a:xfrm>
        </p:spPr>
      </p:pic>
    </p:spTree>
    <p:extLst>
      <p:ext uri="{BB962C8B-B14F-4D97-AF65-F5344CB8AC3E}">
        <p14:creationId xmlns:p14="http://schemas.microsoft.com/office/powerpoint/2010/main" val="209004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085D84-3FE9-0FAB-EC09-3D2AE409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 dirty="0"/>
              <a:t>Adat előfeldolgozás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736D4E-16AE-FBE8-78A6-2BC51FE73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Adathalmaz: </a:t>
            </a:r>
            <a:r>
              <a:rPr lang="hu-HU" sz="2200" b="1" dirty="0" err="1"/>
              <a:t>SQuAD</a:t>
            </a:r>
            <a:r>
              <a:rPr lang="hu-HU" sz="2200" dirty="0"/>
              <a:t> (Stanford </a:t>
            </a:r>
            <a:r>
              <a:rPr lang="hu-HU" sz="2200" dirty="0" err="1"/>
              <a:t>Question</a:t>
            </a:r>
            <a:r>
              <a:rPr lang="hu-HU" sz="2200" dirty="0"/>
              <a:t> </a:t>
            </a:r>
            <a:r>
              <a:rPr lang="hu-HU" sz="2200" dirty="0" err="1"/>
              <a:t>Answering</a:t>
            </a:r>
            <a:r>
              <a:rPr lang="hu-HU" sz="2200" dirty="0"/>
              <a:t> </a:t>
            </a:r>
            <a:r>
              <a:rPr lang="hu-HU" sz="2200" dirty="0" err="1"/>
              <a:t>Dataset</a:t>
            </a:r>
            <a:r>
              <a:rPr lang="hu-HU" sz="2200" dirty="0"/>
              <a:t>) </a:t>
            </a:r>
            <a:r>
              <a:rPr lang="hu-HU" sz="1500" i="1" dirty="0"/>
              <a:t>(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500" i="1" dirty="0">
                <a:solidFill>
                  <a:srgbClr val="000000"/>
                </a:solidFill>
                <a:effectLst/>
              </a:rPr>
              <a:t> 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500" i="1" dirty="0">
                <a:solidFill>
                  <a:srgbClr val="000000"/>
                </a:solidFill>
              </a:rPr>
              <a:t>, 2016</a:t>
            </a:r>
            <a:r>
              <a:rPr lang="hu-HU" sz="1500" i="1" dirty="0"/>
              <a:t>)</a:t>
            </a:r>
          </a:p>
          <a:p>
            <a:r>
              <a:rPr lang="hu-HU" sz="2200" dirty="0"/>
              <a:t>Lépések:</a:t>
            </a:r>
          </a:p>
          <a:p>
            <a:pPr lvl="1"/>
            <a:r>
              <a:rPr lang="hu-HU" sz="2200" dirty="0"/>
              <a:t>Szövegtisztítás</a:t>
            </a:r>
            <a:endParaRPr lang="hu-HU" sz="1800" dirty="0"/>
          </a:p>
          <a:p>
            <a:pPr lvl="1"/>
            <a:r>
              <a:rPr lang="hu-HU" sz="2200" dirty="0" err="1"/>
              <a:t>Semantic</a:t>
            </a:r>
            <a:r>
              <a:rPr lang="hu-HU" sz="2200" dirty="0"/>
              <a:t> </a:t>
            </a:r>
            <a:r>
              <a:rPr lang="hu-HU" sz="2200" dirty="0" err="1"/>
              <a:t>Chunking</a:t>
            </a:r>
            <a:endParaRPr lang="hu-HU" sz="22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D33E1A-9F78-8DDB-E533-F6F10450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4093-34E7-DB4F-8E21-29319E040103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E7E744-A3B0-E6B0-D52B-2E63E6FD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3</a:t>
            </a:fld>
            <a:r>
              <a:rPr lang="hu-HU" dirty="0"/>
              <a:t>/22</a:t>
            </a:r>
          </a:p>
        </p:txBody>
      </p:sp>
      <p:pic>
        <p:nvPicPr>
          <p:cNvPr id="7" name="Kép 6" descr="A képen Diagram, diagram, sor látható&#10;&#10;Automatikusan generált leírás">
            <a:extLst>
              <a:ext uri="{FF2B5EF4-FFF2-40B4-BE49-F238E27FC236}">
                <a16:creationId xmlns:a16="http://schemas.microsoft.com/office/drawing/2014/main" id="{CA704962-EB11-3E96-E64E-CCF488316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794" y="3175031"/>
            <a:ext cx="8031064" cy="31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46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A4660E-4A32-038B-AF65-015EA7CC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Szövegbeágyazás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052BD-6EB2-AAA0-16FF-931515F3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8112" cy="3547872"/>
          </a:xfrm>
        </p:spPr>
        <p:txBody>
          <a:bodyPr anchor="t">
            <a:normAutofit/>
          </a:bodyPr>
          <a:lstStyle/>
          <a:p>
            <a:r>
              <a:rPr lang="hu-HU" sz="2200" dirty="0"/>
              <a:t>A szövegrészek vektoros reprezentációja</a:t>
            </a:r>
          </a:p>
          <a:p>
            <a:r>
              <a:rPr lang="hu-HU" sz="2200" dirty="0" err="1"/>
              <a:t>Sentence</a:t>
            </a:r>
            <a:r>
              <a:rPr lang="hu-HU" sz="2200" dirty="0"/>
              <a:t> Transformers</a:t>
            </a:r>
          </a:p>
          <a:p>
            <a:pPr lvl="1"/>
            <a:r>
              <a:rPr lang="hu-HU" sz="2200" dirty="0"/>
              <a:t>all-MiniLM-L6-v2 (384 dimenzió)</a:t>
            </a:r>
          </a:p>
          <a:p>
            <a:pPr lvl="1"/>
            <a:r>
              <a:rPr lang="hu-HU" sz="2200" dirty="0" err="1"/>
              <a:t>Snowflake's</a:t>
            </a:r>
            <a:r>
              <a:rPr lang="hu-HU" sz="2200" dirty="0"/>
              <a:t> Arctic-embed-l-v2.0</a:t>
            </a:r>
            <a:br>
              <a:rPr lang="hu-HU" sz="2200" dirty="0"/>
            </a:br>
            <a:r>
              <a:rPr lang="hu-HU" sz="2200" dirty="0"/>
              <a:t>(1024 dimenzió)</a:t>
            </a:r>
          </a:p>
          <a:p>
            <a:endParaRPr lang="hu-HU" sz="2200" dirty="0"/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838C620-5264-DB09-4CF1-E8C34315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88711"/>
            <a:ext cx="5458968" cy="4080577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5FC17286-E09C-988D-7A3E-A6EA492C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7766-E8FF-F045-B46B-9108152DAA94}" type="datetime1">
              <a:rPr lang="hu-HU" smtClean="0"/>
              <a:t>2025. 11. 12.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C011C3C-48AD-743A-BE84-CF8CD44B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F88ADF-3301-4598-B089-C6A4CC92BE83}" type="slidenum">
              <a:rPr lang="hu-HU" smtClean="0"/>
              <a:t>4</a:t>
            </a:fld>
            <a:r>
              <a:rPr lang="hu-HU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2242987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F3E87-EBE0-66DC-D57E-421234F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Hasonlóságmérési technikák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D3208-6822-370E-384A-EFB65A7D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Koszinusz hasonlóság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endParaRPr lang="hu-HU" dirty="0"/>
          </a:p>
          <a:p>
            <a:r>
              <a:rPr lang="hu-HU" dirty="0"/>
              <a:t>Euklideszi távolság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 descr="A képen Betűtípus, szöveg, fehér, diagram látható&#10;&#10;Automatikusan generált leírás">
            <a:extLst>
              <a:ext uri="{FF2B5EF4-FFF2-40B4-BE49-F238E27FC236}">
                <a16:creationId xmlns:a16="http://schemas.microsoft.com/office/drawing/2014/main" id="{0B81ECA3-4102-FB78-48FC-AFD4041D1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8" y="2337365"/>
            <a:ext cx="3918545" cy="1396832"/>
          </a:xfrm>
          <a:prstGeom prst="rect">
            <a:avLst/>
          </a:prstGeom>
        </p:spPr>
      </p:pic>
      <p:sp>
        <p:nvSpPr>
          <p:cNvPr id="7" name="Dátum helye 6">
            <a:extLst>
              <a:ext uri="{FF2B5EF4-FFF2-40B4-BE49-F238E27FC236}">
                <a16:creationId xmlns:a16="http://schemas.microsoft.com/office/drawing/2014/main" id="{0C16F16A-0BC8-180B-88A1-FD120524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7468-36DB-7F46-920C-0F19CC9A9134}" type="datetime1">
              <a:rPr lang="hu-HU" smtClean="0"/>
              <a:t>2025. 11. 12.</a:t>
            </a:fld>
            <a:endParaRPr lang="hu-HU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D8D7187B-3D5F-EB1E-39BB-72BB69B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5</a:t>
            </a:fld>
            <a:r>
              <a:rPr lang="hu-HU" dirty="0"/>
              <a:t>/22</a:t>
            </a:r>
          </a:p>
        </p:txBody>
      </p:sp>
      <p:pic>
        <p:nvPicPr>
          <p:cNvPr id="9" name="Kép 8" descr="A képen Betűtípus, diagram, sor, fehér látható&#10;&#10;Automatikusan generált leírás">
            <a:extLst>
              <a:ext uri="{FF2B5EF4-FFF2-40B4-BE49-F238E27FC236}">
                <a16:creationId xmlns:a16="http://schemas.microsoft.com/office/drawing/2014/main" id="{08C1ED94-B01F-DE82-CCA5-462D7ED01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9" y="4079594"/>
            <a:ext cx="3104670" cy="19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7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989D33-1F34-EFC3-2811-8F78ED2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600" b="1"/>
              <a:t>Klaszterezési módszerek a pipeline-ban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932037-C5E5-5EDE-7C62-8003AA6F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Alapértelmezett</a:t>
            </a:r>
            <a:r>
              <a:rPr lang="en-US" sz="2400" b="1" dirty="0"/>
              <a:t> </a:t>
            </a:r>
            <a:r>
              <a:rPr lang="en-US" sz="2400" b="1" dirty="0" err="1"/>
              <a:t>megközelítés</a:t>
            </a:r>
            <a:r>
              <a:rPr lang="en-US" sz="2400" b="1" dirty="0"/>
              <a:t>:</a:t>
            </a:r>
            <a:r>
              <a:rPr lang="en-US" sz="2400" dirty="0"/>
              <a:t> similarity search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embeddingen</a:t>
            </a:r>
            <a:r>
              <a:rPr lang="en-US" sz="2400" dirty="0"/>
              <a:t> (Brute force)</a:t>
            </a:r>
            <a:endParaRPr lang="hu-HU" sz="2400" dirty="0"/>
          </a:p>
          <a:p>
            <a:r>
              <a:rPr lang="hu-HU" sz="2400" b="1" dirty="0"/>
              <a:t>Javasolt </a:t>
            </a:r>
            <a:r>
              <a:rPr lang="hu-HU" sz="2400" b="1" dirty="0" err="1"/>
              <a:t>klaszterezés</a:t>
            </a:r>
            <a:r>
              <a:rPr lang="hu-HU" sz="2400" b="1" dirty="0"/>
              <a:t>-alapú megközelítés: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Embeddingek</a:t>
            </a:r>
            <a:r>
              <a:rPr lang="hu-HU" dirty="0"/>
              <a:t> </a:t>
            </a:r>
            <a:r>
              <a:rPr lang="hu-HU" dirty="0" err="1"/>
              <a:t>klaszterezése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Hasonlóságkeresés először a klaszter-</a:t>
            </a:r>
            <a:r>
              <a:rPr lang="hu-HU" dirty="0" err="1"/>
              <a:t>centroidokra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Részletes keresés csak a legrelevánsabb klasztereken belül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Újonnan érkező dokumentumok integrálása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4F2DB9-72D6-5A2C-0BA0-9544D759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24C2032-E76D-2848-BAF7-0E597B598D68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48E5D5-F0E1-BE18-E9A2-172A965D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6</a:t>
            </a:fld>
            <a:r>
              <a:rPr lang="hu-HU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159993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57D935-F018-FC86-5390-C2B7453B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Javasolt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RAG-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folyamat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Tartalom helye 8" descr="A képen képernyőkép, diagram, sor, Post-it cetli látható&#10;&#10;Automatikusan generált leírás">
            <a:extLst>
              <a:ext uri="{FF2B5EF4-FFF2-40B4-BE49-F238E27FC236}">
                <a16:creationId xmlns:a16="http://schemas.microsoft.com/office/drawing/2014/main" id="{A9ED6514-68CD-D91D-24B7-55E20E55B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40" y="2236003"/>
            <a:ext cx="11945522" cy="4001751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755509C4-3B07-3F44-A1AF-BC312BDB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32D23C5-3E05-FB40-811A-7852437E3550}" type="datetime1">
              <a:rPr lang="hu-HU" smtClean="0">
                <a:solidFill>
                  <a:schemeClr val="tx1">
                    <a:tint val="75000"/>
                  </a:schemeClr>
                </a:solidFill>
              </a:rPr>
              <a:t>2025. 11. 12.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31C41BA-0408-1C95-90B5-3A2002F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38225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9670FB-06C8-7731-7B4D-6FB4E928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Dinamikusan változó dokumentumtér kezelése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A83A24-EFD9-58C9-AA84-885E6938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649726"/>
          </a:xfrm>
        </p:spPr>
        <p:txBody>
          <a:bodyPr>
            <a:normAutofit/>
          </a:bodyPr>
          <a:lstStyle/>
          <a:p>
            <a:r>
              <a:rPr lang="hu-HU" sz="1800" b="1" dirty="0" err="1"/>
              <a:t>OnlineKMeans</a:t>
            </a:r>
            <a:r>
              <a:rPr lang="hu-HU" sz="1800" b="1" dirty="0"/>
              <a:t>:</a:t>
            </a:r>
          </a:p>
          <a:p>
            <a:pPr lvl="1"/>
            <a:r>
              <a:rPr lang="hu-HU" sz="1800" dirty="0" err="1"/>
              <a:t>KMeans</a:t>
            </a:r>
            <a:r>
              <a:rPr lang="hu-HU" sz="1800" dirty="0"/>
              <a:t>++ inicializálás</a:t>
            </a:r>
          </a:p>
          <a:p>
            <a:pPr lvl="1"/>
            <a:r>
              <a:rPr lang="hu-HU" sz="1800" dirty="0" err="1"/>
              <a:t>Centroidok</a:t>
            </a:r>
            <a:r>
              <a:rPr lang="hu-HU" sz="1800" dirty="0"/>
              <a:t> dinamikus frissítése:</a:t>
            </a:r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hu-HU" sz="1600" dirty="0"/>
          </a:p>
          <a:p>
            <a:pPr lvl="1"/>
            <a:r>
              <a:rPr lang="hu-HU" sz="1800" dirty="0"/>
              <a:t>Új klaszterek létrehozása</a:t>
            </a:r>
          </a:p>
          <a:p>
            <a:pPr lvl="1"/>
            <a:r>
              <a:rPr lang="hu-HU" sz="1800" dirty="0"/>
              <a:t>Meglévő klaszterek összevonása</a:t>
            </a:r>
          </a:p>
          <a:p>
            <a:pPr lvl="1"/>
            <a:r>
              <a:rPr lang="hu-HU" sz="1800" dirty="0"/>
              <a:t>Gyors, memória hatékony megközelítés</a:t>
            </a:r>
          </a:p>
          <a:p>
            <a:pPr lvl="1"/>
            <a:r>
              <a:rPr lang="hu-HU" sz="1800" dirty="0"/>
              <a:t>Függ a beérkező adatok sorrendjétől</a:t>
            </a:r>
          </a:p>
          <a:p>
            <a:pPr lvl="1"/>
            <a:endParaRPr lang="hu-HU" sz="1400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A26DC97-398A-863A-3107-51A57D9ED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763" y="3789802"/>
            <a:ext cx="3499706" cy="699941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E745C1BA-EB1E-45BE-667D-E9C4B10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5B90B19-A1FC-5745-9E3E-9A58B2658B29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0D9E1E-E844-A26C-DE5F-59457F1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8</a:t>
            </a:fld>
            <a:r>
              <a:rPr lang="hu-HU" dirty="0"/>
              <a:t>/22</a:t>
            </a:r>
          </a:p>
        </p:txBody>
      </p:sp>
      <p:pic>
        <p:nvPicPr>
          <p:cNvPr id="8" name="Kép 7" descr="A képen szöveg, virág, képernyőkép látható&#10;&#10;Automatikusan generált leírás">
            <a:extLst>
              <a:ext uri="{FF2B5EF4-FFF2-40B4-BE49-F238E27FC236}">
                <a16:creationId xmlns:a16="http://schemas.microsoft.com/office/drawing/2014/main" id="{47A3CB95-E303-4CC1-F4D5-60EBAF4B2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33" y="1936713"/>
            <a:ext cx="5613795" cy="44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C5B991-DADF-8037-2F70-760F6D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Az </a:t>
            </a:r>
            <a:r>
              <a:rPr lang="hu-HU" sz="4100" b="1" dirty="0" err="1"/>
              <a:t>OnlineKMeans</a:t>
            </a:r>
            <a:r>
              <a:rPr lang="hu-HU" sz="4100" b="1" dirty="0"/>
              <a:t> algoritmus </a:t>
            </a:r>
            <a:r>
              <a:rPr lang="hu-HU" sz="4100" b="1" dirty="0" err="1"/>
              <a:t>pszeudokódja</a:t>
            </a:r>
            <a:endParaRPr lang="hu-HU" sz="41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B4EA16-1807-1461-C3A0-9C7A7B68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9215-F87C-794D-9DB3-DA814D7D6B51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584BDD-2D8D-647B-59AD-888BF154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9</a:t>
            </a:fld>
            <a:r>
              <a:rPr lang="hu-HU" dirty="0"/>
              <a:t>/22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3C25C462-0493-14FC-7AFB-DF71D4745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D6A99B93-22A6-9F32-8B40-D36FE50F5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95" y="1659144"/>
            <a:ext cx="10857410" cy="468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0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1CC8E9-356E-2A8A-498D-1B17C279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  <a:endParaRPr lang="hu-HU" sz="41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3B8D71-B18A-E16D-5FBE-EF862C7B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Futásidő mérésének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 (18.891 dokumentumból) </a:t>
            </a:r>
            <a:r>
              <a:rPr lang="hu-HU" dirty="0" err="1"/>
              <a:t>klaszterezése</a:t>
            </a:r>
            <a:r>
              <a:rPr lang="hu-HU" dirty="0"/>
              <a:t> változó klaszterszámokra.</a:t>
            </a:r>
          </a:p>
          <a:p>
            <a:pPr lvl="1"/>
            <a:r>
              <a:rPr lang="hu-HU" dirty="0"/>
              <a:t>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77D505-C77A-3697-A926-4FDA6C78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AA20-991C-5440-821D-EF7936105166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1F55054-6EE2-F770-6B80-2C7A629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10</a:t>
            </a:fld>
            <a:r>
              <a:rPr lang="hu-HU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3425339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25F4D4-ED51-2820-49AF-F3EC1E6A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0C8C3-871B-8446-5A95-F46A7124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0D19-1B35-7A4F-93B5-1EDA6F972E33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869A216-EF38-C2EE-C5A0-862D630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11</a:t>
            </a:fld>
            <a:r>
              <a:rPr lang="hu-HU" dirty="0"/>
              <a:t>/22</a:t>
            </a:r>
          </a:p>
        </p:txBody>
      </p:sp>
      <p:pic>
        <p:nvPicPr>
          <p:cNvPr id="6" name="Kép 5" descr="A képen szöveg, sor, Diagram, képernyőkép látható&#10;&#10;Automatikusan generált leírás">
            <a:extLst>
              <a:ext uri="{FF2B5EF4-FFF2-40B4-BE49-F238E27FC236}">
                <a16:creationId xmlns:a16="http://schemas.microsoft.com/office/drawing/2014/main" id="{6DA06527-DE02-E4A8-3B3B-8DCE7840F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8646"/>
            <a:ext cx="11190529" cy="4432868"/>
          </a:xfrm>
          <a:prstGeom prst="rect">
            <a:avLst/>
          </a:prstGeom>
        </p:spPr>
      </p:pic>
      <p:pic>
        <p:nvPicPr>
          <p:cNvPr id="9" name="Kép 8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9C5DC3D4-9239-082D-165B-45262CC05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9914"/>
            <a:ext cx="11187328" cy="44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8C4855-CAF2-5DD9-532A-7A0D8804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pontossága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538570-B920-9406-9988-BB1C0443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Pontossági mérés beállításai:</a:t>
            </a:r>
          </a:p>
          <a:p>
            <a:pPr lvl="1"/>
            <a:r>
              <a:rPr lang="hu-HU" dirty="0"/>
              <a:t>Szintetikus adathalmaz:</a:t>
            </a:r>
          </a:p>
          <a:p>
            <a:pPr lvl="2"/>
            <a:r>
              <a:rPr lang="hu-HU" dirty="0"/>
              <a:t>500 dimenziós vektorok</a:t>
            </a:r>
          </a:p>
          <a:p>
            <a:pPr lvl="2"/>
            <a:r>
              <a:rPr lang="hu-HU" dirty="0"/>
              <a:t>10.000 adatpont</a:t>
            </a:r>
          </a:p>
          <a:p>
            <a:pPr lvl="2"/>
            <a:r>
              <a:rPr lang="hu-HU" dirty="0"/>
              <a:t>200, 300, 400, 500, 800 klaszter</a:t>
            </a:r>
          </a:p>
          <a:p>
            <a:pPr lvl="2"/>
            <a:r>
              <a:rPr lang="hu-HU" dirty="0"/>
              <a:t>Minden klaszterszámra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= 2,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l-GR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4, 6, 8 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és 10 szórással</a:t>
            </a:r>
            <a:endParaRPr lang="hu-HU" dirty="0"/>
          </a:p>
          <a:p>
            <a:pPr lvl="2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B084F8-7887-3ADC-D4D8-A2642514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F19C3-C554-0D49-858F-BC5A4F8BAF23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49B74D0-CF8E-A658-AA33-4DF54D91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12</a:t>
            </a:fld>
            <a:r>
              <a:rPr lang="hu-HU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162522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C9B2F7-33BF-5C12-61DB-2CD68A81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Pontossági eredmények (ARI és NMI)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38CB8B-7386-89C9-3034-99523D92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7C4ED-070D-D147-BEC5-7EAE588D72B2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09457-CD5D-D0C2-3D41-F3729923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13</a:t>
            </a:fld>
            <a:r>
              <a:rPr lang="hu-HU" dirty="0"/>
              <a:t>/22</a:t>
            </a:r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5F12DD7E-7C79-6A85-74B8-A3082BAE0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665" y="1455477"/>
            <a:ext cx="9134669" cy="4679006"/>
          </a:xfrm>
        </p:spPr>
      </p:pic>
    </p:spTree>
    <p:extLst>
      <p:ext uri="{BB962C8B-B14F-4D97-AF65-F5344CB8AC3E}">
        <p14:creationId xmlns:p14="http://schemas.microsoft.com/office/powerpoint/2010/main" val="290535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C46A4-6D8D-D412-17FC-B0344217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9235CC-06AC-C5E8-688B-C1936A5D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hu-HU" dirty="0"/>
              <a:t>A mérés beállításai:</a:t>
            </a:r>
          </a:p>
          <a:p>
            <a:pPr lvl="1"/>
            <a:r>
              <a:rPr lang="hu-HU" dirty="0"/>
              <a:t>Cél: Minden </a:t>
            </a:r>
            <a:r>
              <a:rPr lang="hu-HU" dirty="0" err="1"/>
              <a:t>query-hez</a:t>
            </a:r>
            <a:r>
              <a:rPr lang="hu-HU" dirty="0"/>
              <a:t> (87.599) megtalálni a legrelevánsabb </a:t>
            </a:r>
            <a:r>
              <a:rPr lang="hu-HU" dirty="0" err="1"/>
              <a:t>embedding</a:t>
            </a:r>
            <a:r>
              <a:rPr lang="hu-HU" dirty="0"/>
              <a:t> vektort</a:t>
            </a:r>
          </a:p>
          <a:p>
            <a:pPr lvl="1"/>
            <a:r>
              <a:rPr lang="hu-HU" dirty="0"/>
              <a:t>Kérdések 15%-ára nincs válasz</a:t>
            </a:r>
          </a:p>
          <a:p>
            <a:pPr lvl="1"/>
            <a:r>
              <a:rPr lang="hu-HU" dirty="0"/>
              <a:t>Ha a hasonlóság kisebb, mint 0,6            Nincs válasz a kérdésre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0F0211-477B-15E0-2EBF-2A47A20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3250-059E-6C49-9AEC-D7E11F74EA17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189B6E-7E3F-3280-6C58-EF7283E0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14</a:t>
            </a:fld>
            <a:r>
              <a:rPr lang="hu-HU" dirty="0"/>
              <a:t>/22</a:t>
            </a:r>
          </a:p>
        </p:txBody>
      </p:sp>
      <p:pic>
        <p:nvPicPr>
          <p:cNvPr id="7" name="Ábra 6" descr="Jobbra mutató nyíl egyszínű kitöltéssel">
            <a:extLst>
              <a:ext uri="{FF2B5EF4-FFF2-40B4-BE49-F238E27FC236}">
                <a16:creationId xmlns:a16="http://schemas.microsoft.com/office/drawing/2014/main" id="{7120109B-EAC2-F9F6-35EF-CAAE89E34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652052"/>
            <a:ext cx="467031" cy="51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4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9D9E66-EAAD-305B-FE2A-DC7CD476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3B992D-1AB5-B0AB-3BB0-71AD28F8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4C4B-4FCE-684E-BDCF-894303FF802E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21768A6-17E9-2E12-197F-2D3C959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15</a:t>
            </a:fld>
            <a:r>
              <a:rPr lang="hu-HU" dirty="0"/>
              <a:t>/22</a:t>
            </a:r>
          </a:p>
        </p:txBody>
      </p:sp>
      <p:pic>
        <p:nvPicPr>
          <p:cNvPr id="8" name="Tartalom helye 7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A01BC323-3718-5EF4-A148-448EA70B4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092721" cy="4595556"/>
          </a:xfrm>
        </p:spPr>
      </p:pic>
      <p:pic>
        <p:nvPicPr>
          <p:cNvPr id="10" name="Kép 9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0813B8AB-2885-83F4-56FA-9A06CFC6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105379" cy="4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AF592-6D95-A38C-AFF9-3B09227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visszakeresési ideje</a:t>
            </a:r>
            <a:endParaRPr lang="hu-HU" dirty="0"/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46DB39A6-DB0D-DE97-078A-A43CA47E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2" y="1584615"/>
            <a:ext cx="11365536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5BA1C54-996A-D494-3068-DCB25928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7968-9289-324A-8185-9F1024D0E0BB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8897DA-452A-EDD9-7DE7-3BE7261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16</a:t>
            </a:fld>
            <a:r>
              <a:rPr lang="hu-HU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75852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C3197A-80D4-A704-6EA0-F8FFC373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Visszakeresés dinamikusan változó adathalmazon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1DF59D-CAA9-F2E5-6393-4220ED32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C71B-C64D-AC47-B57B-94F3463CBF7C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6600EDC-9C01-C620-C471-730F3E68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17</a:t>
            </a:fld>
            <a:r>
              <a:rPr lang="hu-HU" dirty="0"/>
              <a:t>/22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7A0D2D-9C09-8E77-2B9B-FAA7BB687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Kiértékelés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vektor, 87.599 </a:t>
            </a:r>
            <a:r>
              <a:rPr lang="hu-HU" dirty="0" err="1"/>
              <a:t>query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Inicializálás </a:t>
            </a:r>
            <a:r>
              <a:rPr lang="hu-HU" dirty="0" err="1"/>
              <a:t>embeddingek</a:t>
            </a:r>
            <a:r>
              <a:rPr lang="hu-HU" dirty="0"/>
              <a:t> 50%-án.</a:t>
            </a:r>
          </a:p>
          <a:p>
            <a:pPr lvl="1"/>
            <a:r>
              <a:rPr lang="hu-HU" dirty="0"/>
              <a:t>Új adatok 2.000-es batch-</a:t>
            </a:r>
            <a:r>
              <a:rPr lang="hu-HU" dirty="0" err="1"/>
              <a:t>ekben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Vizsgált 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2"/>
            <a:r>
              <a:rPr lang="hu-HU" dirty="0"/>
              <a:t>FAISS (HNSW)</a:t>
            </a:r>
          </a:p>
        </p:txBody>
      </p:sp>
    </p:spTree>
    <p:extLst>
      <p:ext uri="{BB962C8B-B14F-4D97-AF65-F5344CB8AC3E}">
        <p14:creationId xmlns:p14="http://schemas.microsoft.com/office/powerpoint/2010/main" val="1279681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BED8F0-B3A5-60F7-E321-B144BD43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 err="1"/>
              <a:t>Accuracy</a:t>
            </a:r>
            <a:r>
              <a:rPr lang="hu-HU" sz="4100" b="1" dirty="0"/>
              <a:t> és </a:t>
            </a:r>
            <a:r>
              <a:rPr lang="hu-HU" sz="4100" b="1" dirty="0" err="1"/>
              <a:t>recall</a:t>
            </a:r>
            <a:r>
              <a:rPr lang="hu-HU" sz="4100" b="1" dirty="0"/>
              <a:t> dinamikus adathalmazon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814D4FF-37CA-07CC-4917-A39068E7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75C52C96-71A3-7B11-9A08-97D6BE64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5130-88B4-B04A-A570-CDDCA513217F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0EFBDA3-F08B-8523-65E6-5283DDC3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18</a:t>
            </a:fld>
            <a:r>
              <a:rPr lang="hu-HU" dirty="0"/>
              <a:t>/22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296B4B3-EF9B-7160-D129-A1B840E03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C004D-1D65-EB37-2448-8EE4997B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Frissítési idők összehasonlítása dinamikus adathalmazon</a:t>
            </a:r>
          </a:p>
        </p:txBody>
      </p:sp>
      <p:pic>
        <p:nvPicPr>
          <p:cNvPr id="7" name="Tartalom helye 6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09BA973A-3273-5842-7415-0A51D97B1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258" y="1552193"/>
            <a:ext cx="8647483" cy="4804157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18FBCE9-D862-C9E2-701F-A747EB89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FBD6-396A-C74B-847F-F81995866E7F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3732086-E6AD-86B0-13EA-3E994DC6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19</a:t>
            </a:fld>
            <a:r>
              <a:rPr lang="hu-HU" dirty="0"/>
              <a:t>/22</a:t>
            </a:r>
          </a:p>
        </p:txBody>
      </p:sp>
      <p:pic>
        <p:nvPicPr>
          <p:cNvPr id="9" name="Kép 8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D65EAF16-EDB2-9027-5E8C-1AF7E7707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41" y="1552193"/>
            <a:ext cx="8650800" cy="48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9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BFB062-6D42-EE0F-FED5-084175AC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/>
              <a:t>Összefoglalás és kitekintés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962E74-DC21-438F-65EA-0AC81415F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400" dirty="0" err="1"/>
              <a:t>OnlineKMeans</a:t>
            </a:r>
            <a:r>
              <a:rPr lang="hu-HU" sz="2400" dirty="0"/>
              <a:t> algoritmus megvalósítása:</a:t>
            </a:r>
          </a:p>
          <a:p>
            <a:pPr lvl="1"/>
            <a:r>
              <a:rPr lang="hu-HU" sz="2000" dirty="0"/>
              <a:t>Gyors, hatékony</a:t>
            </a:r>
          </a:p>
          <a:p>
            <a:r>
              <a:rPr lang="hu-HU" sz="2400" dirty="0"/>
              <a:t>Effektív </a:t>
            </a:r>
            <a:r>
              <a:rPr lang="hu-HU" sz="2400" dirty="0" err="1"/>
              <a:t>retrieval</a:t>
            </a:r>
            <a:r>
              <a:rPr lang="hu-HU" sz="2400" dirty="0"/>
              <a:t> módszer</a:t>
            </a:r>
          </a:p>
          <a:p>
            <a:pPr lvl="1"/>
            <a:r>
              <a:rPr lang="hu-HU" sz="2000" dirty="0"/>
              <a:t>A </a:t>
            </a:r>
            <a:r>
              <a:rPr lang="hu-HU" sz="2000" dirty="0" err="1"/>
              <a:t>klaszterezés</a:t>
            </a:r>
            <a:r>
              <a:rPr lang="hu-HU" sz="2000" dirty="0"/>
              <a:t>-alapú visszakeresés pontosságban és sebességben is hatékony alternatíva</a:t>
            </a:r>
          </a:p>
          <a:p>
            <a:r>
              <a:rPr lang="hu-HU" sz="2400" dirty="0"/>
              <a:t>Újonnan érkező dokumentumok integrálása a tudásbázisba </a:t>
            </a:r>
            <a:r>
              <a:rPr lang="hu-HU" sz="2400" dirty="0" err="1"/>
              <a:t>klaszterezéssel</a:t>
            </a:r>
            <a:endParaRPr lang="hu-HU" sz="2400" dirty="0"/>
          </a:p>
          <a:p>
            <a:r>
              <a:rPr lang="hu-HU" sz="2400" dirty="0"/>
              <a:t>További haladás:</a:t>
            </a:r>
          </a:p>
          <a:p>
            <a:pPr lvl="1"/>
            <a:r>
              <a:rPr lang="hu-HU" sz="2000" dirty="0" err="1"/>
              <a:t>OnlineKMeans</a:t>
            </a:r>
            <a:r>
              <a:rPr lang="hu-HU" sz="2000" dirty="0"/>
              <a:t>: Meglévő klaszterek felbontása variancia/konduktancia alapján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5B2103-E32A-9BB6-3136-6CC6AACF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D8A9DB-A63D-1E43-964A-FEA6F241DBC6}" type="datetime1">
              <a:rPr lang="hu-HU" smtClean="0"/>
              <a:t>2025. 11. 12.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F2DD6C4-ECD4-2FD2-37DC-F5CEFA45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20</a:t>
            </a:fld>
            <a:r>
              <a:rPr lang="hu-HU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1127999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78EBFF-0782-426B-7342-7ACB16E7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Köszönöm szépen a figyelmet!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Tartalom helye 8" descr="A képen képernyőkép, diagram, sor, Post-it cetli látható&#10;&#10;Automatikusan generált leírás">
            <a:extLst>
              <a:ext uri="{FF2B5EF4-FFF2-40B4-BE49-F238E27FC236}">
                <a16:creationId xmlns:a16="http://schemas.microsoft.com/office/drawing/2014/main" id="{7919A298-7873-EB49-4BA4-525F1112A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380" y="2366712"/>
            <a:ext cx="11447240" cy="3834826"/>
          </a:xfrm>
          <a:prstGeom prst="rect">
            <a:avLst/>
          </a:prstGeo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BC8017B1-9776-4AA6-DBFE-8A90DA99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2E5E6D-BD8D-265F-A6D0-BE50AF6D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algn="l" defTabSz="914400" rtl="0" eaLnBrk="1" latinLnBrk="0" hangingPunct="1"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9128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242FBB-2962-2D0C-F440-AE52FF32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8F6325-171C-9526-86E2-566A20E5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[1] </a:t>
            </a:r>
            <a:r>
              <a:rPr lang="hu-HU" sz="1800" dirty="0" err="1"/>
              <a:t>Hariom</a:t>
            </a:r>
            <a:r>
              <a:rPr lang="hu-HU" sz="1800" dirty="0"/>
              <a:t> </a:t>
            </a:r>
            <a:r>
              <a:rPr lang="hu-HU" sz="1800" dirty="0" err="1"/>
              <a:t>Gautam</a:t>
            </a:r>
            <a:r>
              <a:rPr lang="hu-HU" sz="1800" dirty="0"/>
              <a:t>, (2020.03.01.), Word </a:t>
            </a:r>
            <a:r>
              <a:rPr lang="hu-HU" sz="1800" dirty="0" err="1"/>
              <a:t>Embedding</a:t>
            </a:r>
            <a:r>
              <a:rPr lang="hu-HU" sz="1800" dirty="0"/>
              <a:t>: </a:t>
            </a:r>
            <a:r>
              <a:rPr lang="hu-HU" sz="1800" dirty="0" err="1"/>
              <a:t>Basics</a:t>
            </a:r>
            <a:r>
              <a:rPr lang="hu-HU" sz="1800" dirty="0"/>
              <a:t>, </a:t>
            </a:r>
            <a:r>
              <a:rPr lang="hu-HU" sz="1800" dirty="0" err="1"/>
              <a:t>Medium</a:t>
            </a:r>
            <a:r>
              <a:rPr lang="hu-HU" sz="1800" dirty="0"/>
              <a:t>, </a:t>
            </a:r>
            <a:r>
              <a:rPr lang="hu-HU" sz="1800" dirty="0">
                <a:hlinkClick r:id="rId3"/>
              </a:rPr>
              <a:t>https://medium.com/@hari4om/word-embedding-d816f643140</a:t>
            </a:r>
            <a:endParaRPr lang="hu-HU" sz="1800" dirty="0"/>
          </a:p>
          <a:p>
            <a:r>
              <a:rPr lang="hu-HU" sz="1800" dirty="0"/>
              <a:t>[2] </a:t>
            </a:r>
            <a:r>
              <a:rPr lang="hu-HU" sz="1800" dirty="0" err="1"/>
              <a:t>Varun</a:t>
            </a:r>
            <a:r>
              <a:rPr lang="hu-HU" sz="1800" dirty="0"/>
              <a:t>, (2020.09.27.), </a:t>
            </a:r>
            <a:r>
              <a:rPr lang="hu-HU" sz="1800" dirty="0" err="1"/>
              <a:t>Cosine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: </a:t>
            </a:r>
            <a:r>
              <a:rPr lang="hu-HU" sz="1800" dirty="0" err="1"/>
              <a:t>How</a:t>
            </a:r>
            <a:r>
              <a:rPr lang="hu-HU" sz="1800" dirty="0"/>
              <a:t> </a:t>
            </a:r>
            <a:r>
              <a:rPr lang="hu-HU" sz="1800" dirty="0" err="1"/>
              <a:t>does</a:t>
            </a:r>
            <a:r>
              <a:rPr lang="hu-HU" sz="1800" dirty="0"/>
              <a:t> </a:t>
            </a:r>
            <a:r>
              <a:rPr lang="hu-HU" sz="1800" dirty="0" err="1"/>
              <a:t>it</a:t>
            </a:r>
            <a:r>
              <a:rPr lang="hu-HU" sz="1800" dirty="0"/>
              <a:t> </a:t>
            </a:r>
            <a:r>
              <a:rPr lang="hu-HU" sz="1800" dirty="0" err="1"/>
              <a:t>measure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, </a:t>
            </a:r>
            <a:r>
              <a:rPr lang="hu-HU" sz="1800" dirty="0" err="1"/>
              <a:t>Maths</a:t>
            </a:r>
            <a:r>
              <a:rPr lang="hu-HU" sz="1800" dirty="0"/>
              <a:t> </a:t>
            </a:r>
            <a:r>
              <a:rPr lang="hu-HU" sz="1800" dirty="0" err="1"/>
              <a:t>behind</a:t>
            </a:r>
            <a:r>
              <a:rPr lang="hu-HU" sz="1800" dirty="0"/>
              <a:t> and </a:t>
            </a:r>
            <a:r>
              <a:rPr lang="hu-HU" sz="1800" dirty="0" err="1"/>
              <a:t>usage</a:t>
            </a:r>
            <a:r>
              <a:rPr lang="hu-HU" sz="1800" dirty="0"/>
              <a:t> in Python, towardsdatascience.com ,</a:t>
            </a:r>
            <a:r>
              <a:rPr lang="hu-HU" sz="1800" dirty="0">
                <a:hlinkClick r:id="rId4"/>
              </a:rPr>
              <a:t>https://towardsdatascience.com/cosine-similarity-how-does-it-measure-the-similarity-maths-behind-and-usage-in-python-50ad30aad7db/</a:t>
            </a:r>
            <a:endParaRPr lang="hu-HU" sz="1800" dirty="0"/>
          </a:p>
          <a:p>
            <a:r>
              <a:rPr lang="hu-HU" sz="1800" dirty="0"/>
              <a:t>[3]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Jian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Zhang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>
                <a:effectLst/>
              </a:rPr>
              <a:t>Konstantin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Lopyrev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Percy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Liang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(2016.06.16.),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SQuAD</a:t>
            </a:r>
            <a:r>
              <a:rPr lang="hu-HU" sz="180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hu-HU" sz="1800" dirty="0">
                <a:solidFill>
                  <a:srgbClr val="000000"/>
                </a:solidFill>
                <a:effectLst/>
              </a:rPr>
              <a:t>100,000+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Questions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for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Machine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Comprehension</a:t>
            </a:r>
            <a:r>
              <a:rPr lang="hu-HU" sz="1800" dirty="0">
                <a:solidFill>
                  <a:srgbClr val="000000"/>
                </a:solidFill>
                <a:effectLst/>
              </a:rPr>
              <a:t> of Text,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ArXiv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b="0" i="0" u="sng" dirty="0">
                <a:effectLst/>
                <a:hlinkClick r:id="rId5"/>
              </a:rPr>
              <a:t>https://doi.org/10.48550/arXiv.1606.05250</a:t>
            </a:r>
            <a:endParaRPr lang="hu-HU" sz="1800" dirty="0"/>
          </a:p>
          <a:p>
            <a:endParaRPr lang="hu-HU" sz="20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AFDC56-C173-DBE4-4AB5-B1829C2C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8737DFA-5AEE-8E85-0BBC-53632C2E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5096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2295</Words>
  <Application>Microsoft Macintosh PowerPoint</Application>
  <PresentationFormat>Szélesvásznú</PresentationFormat>
  <Paragraphs>305</Paragraphs>
  <Slides>22</Slides>
  <Notes>22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Office-téma</vt:lpstr>
      <vt:lpstr>Klaszterezési stratégiák alkalmazása RAG rendszerek hatékonyságának növelésére</vt:lpstr>
      <vt:lpstr>Retrieval Augmented Generation</vt:lpstr>
      <vt:lpstr>Adat előfeldolgozás</vt:lpstr>
      <vt:lpstr>Szövegbeágyazás</vt:lpstr>
      <vt:lpstr>Hasonlóságmérési technikák</vt:lpstr>
      <vt:lpstr>Klaszterezési módszerek a pipeline-ban</vt:lpstr>
      <vt:lpstr>Javasolt RAG-folyamat</vt:lpstr>
      <vt:lpstr>Dinamikusan változó dokumentumtér kezelése</vt:lpstr>
      <vt:lpstr>Az OnlineKMeans algoritmus pszeudokódja</vt:lpstr>
      <vt:lpstr>Futásidő a klaszterek számának függvényében</vt:lpstr>
      <vt:lpstr>Futásidő a klaszterek számának függvényében</vt:lpstr>
      <vt:lpstr>Klaszterezési algoritmusok pontossága</vt:lpstr>
      <vt:lpstr>Pontossági eredmények (ARI és NMI)</vt:lpstr>
      <vt:lpstr>A visszakeresési folyamat (retrieval pipeline) kiértékelése</vt:lpstr>
      <vt:lpstr>A visszakeresési folyamat (retrieval pipeline) kiértékelése</vt:lpstr>
      <vt:lpstr>Klaszterezést használó retrieval pipeline visszakeresési ideje</vt:lpstr>
      <vt:lpstr>Visszakeresés dinamikusan változó adathalmazon</vt:lpstr>
      <vt:lpstr>Accuracy és recall dinamikus adathalmazon</vt:lpstr>
      <vt:lpstr>Frissítési idők összehasonlítása dinamikus adathalmazon</vt:lpstr>
      <vt:lpstr>Összefoglalás és kitekintés</vt:lpstr>
      <vt:lpstr>Köszönöm szépen a figyelmet!</vt:lpstr>
      <vt:lpstr>Forrásjegyzék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Czotter Benedek (ME/ECO1-HU)</dc:creator>
  <cp:lastModifiedBy>Benedek Czotter</cp:lastModifiedBy>
  <cp:revision>348</cp:revision>
  <cp:lastPrinted>2025-11-09T09:32:58Z</cp:lastPrinted>
  <dcterms:created xsi:type="dcterms:W3CDTF">2025-10-16T06:59:48Z</dcterms:created>
  <dcterms:modified xsi:type="dcterms:W3CDTF">2025-11-12T20:09:25Z</dcterms:modified>
</cp:coreProperties>
</file>