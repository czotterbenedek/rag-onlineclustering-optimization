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4" r:id="rId9"/>
    <p:sldId id="265" r:id="rId10"/>
    <p:sldId id="266" r:id="rId11"/>
    <p:sldId id="267" r:id="rId12"/>
    <p:sldId id="270" r:id="rId13"/>
    <p:sldId id="269" r:id="rId14"/>
    <p:sldId id="268" r:id="rId15"/>
    <p:sldId id="260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88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2025. 10. 16.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71CAD-6F13-184D-A3E8-750FE35B9EBC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243F7-EB01-1C49-8DF4-B5E7D3EDCB05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A0E93-9A86-7044-A356-C546BEFBED63}" type="datetime1">
              <a:rPr lang="hu-HU" smtClean="0"/>
              <a:t>2025. 10. 16.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44146-0A6C-8F43-AB21-D823E7CB24D4}" type="datetime1">
              <a:rPr lang="hu-HU" smtClean="0"/>
              <a:t>2025. 10. 16.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3C242-AF4E-0F4E-B1A5-0050A5B92112}" type="datetime1">
              <a:rPr lang="hu-HU" smtClean="0"/>
              <a:t>2025. 10. 16.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D6928-E8BB-F645-9B89-505C65382616}" type="datetime1">
              <a:rPr lang="hu-HU" smtClean="0"/>
              <a:t>2025. 10. 16.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2935B-306A-AF4A-83C7-5ACF2C37EC40}" type="datetime1">
              <a:rPr lang="hu-HU" smtClean="0"/>
              <a:t>2025. 10. 16.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3F5C2-BC5C-E946-BE19-5970FFE88346}" type="datetime1">
              <a:rPr lang="hu-HU" smtClean="0"/>
              <a:t>2025. 10. 16.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747407-E380-7C4C-956A-D6E19B9BA48E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A1641-DB98-1945-938C-2D56ADE4DCEF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EA9AB3-3E45-1F4D-91EA-19B6CDD7EF89}" type="datetime1">
              <a:rPr lang="hu-HU" smtClean="0"/>
              <a:t>2025. 10. 16.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sine-similarity-how-does-it-measure-the-similarity-maths-behind-and-usage-in-python-50ad30aad7db/" TargetMode="External"/><Relationship Id="rId2" Type="http://schemas.openxmlformats.org/officeDocument/2006/relationships/hyperlink" Target="https://medium.com/@hari4om/word-embedding-d816f643140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5000" b="1" dirty="0" err="1"/>
              <a:t>Klaszterezési</a:t>
            </a:r>
            <a:r>
              <a:rPr lang="hu-HU" sz="5000" b="1" dirty="0"/>
              <a:t> technikák alkalmazása az </a:t>
            </a:r>
            <a:r>
              <a:rPr lang="hu-HU" sz="5000" b="1" dirty="0" err="1"/>
              <a:t>embedding</a:t>
            </a:r>
            <a:r>
              <a:rPr lang="hu-HU" sz="5000" b="1" dirty="0"/>
              <a:t>-alapú visszakeresés hatékonyságának növelésére RAG környezetben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7D3F269C-6C4A-9EFF-8421-ACE6A59C7D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2679882"/>
            <a:ext cx="11548872" cy="3493533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5A438-3713-F446-BD7A-55D18856C613}" type="datetime1">
              <a:rPr lang="hu-HU" smtClean="0"/>
              <a:t>2025. 10. 16.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</a:p>
          <a:p>
            <a:pPr lvl="1"/>
            <a:r>
              <a:rPr lang="hu-HU" sz="2200" dirty="0" err="1"/>
              <a:t>Chunking</a:t>
            </a:r>
            <a:r>
              <a:rPr lang="hu-HU" sz="2200" dirty="0"/>
              <a:t>:</a:t>
            </a:r>
          </a:p>
          <a:p>
            <a:pPr lvl="2"/>
            <a:r>
              <a:rPr lang="hu-HU" sz="2200" dirty="0" err="1"/>
              <a:t>Sliding</a:t>
            </a:r>
            <a:r>
              <a:rPr lang="hu-HU" sz="2200" dirty="0"/>
              <a:t> </a:t>
            </a:r>
            <a:r>
              <a:rPr lang="hu-HU" sz="2200" dirty="0" err="1"/>
              <a:t>window</a:t>
            </a:r>
            <a:endParaRPr lang="hu-HU" sz="2200" dirty="0"/>
          </a:p>
          <a:p>
            <a:pPr lvl="2"/>
            <a:r>
              <a:rPr lang="hu-HU" sz="2200" dirty="0" err="1"/>
              <a:t>Semantic</a:t>
            </a:r>
            <a:endParaRPr lang="hu-HU" sz="2200" dirty="0"/>
          </a:p>
          <a:p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DC56D-A89B-7A46-BB67-D506DBA2B2C4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</a:t>
            </a:r>
            <a:r>
              <a:rPr lang="hu-HU" sz="2200" dirty="0" err="1"/>
              <a:t>Dim</a:t>
            </a:r>
            <a:r>
              <a:rPr lang="hu-HU" sz="2200" dirty="0"/>
              <a:t>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dirty="0"/>
              <a:t>(1024 </a:t>
            </a:r>
            <a:r>
              <a:rPr lang="hu-HU" dirty="0" err="1"/>
              <a:t>Dim</a:t>
            </a:r>
            <a:r>
              <a:rPr lang="hu-HU" dirty="0"/>
              <a:t>)</a:t>
            </a:r>
            <a:endParaRPr lang="hu-HU" sz="2200" dirty="0"/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CB8C-8A8C-8F41-B579-E127A30BCC8D}" type="datetime1">
              <a:rPr lang="hu-HU" smtClean="0"/>
              <a:t>2025. 10. 16.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 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2352457"/>
            <a:ext cx="3451902" cy="123048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E1FD49-5445-467A-8611-01B9A39D26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298" y="4109778"/>
            <a:ext cx="2225404" cy="1106688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8D167-9427-CA44-9384-E35089ED55DF}" type="datetime1">
              <a:rPr lang="hu-HU" smtClean="0"/>
              <a:t>2025. 10. 16.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0975B880-7113-7A2B-5797-9ECF16D81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111" y="2389808"/>
            <a:ext cx="11519180" cy="3830125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0DB5E-A372-294A-ADC7-737DED99DBCB}" type="datetime1">
              <a:rPr lang="hu-HU" smtClean="0"/>
              <a:t>2025. 10. 16.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6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endParaRPr lang="hu-HU" sz="2400" dirty="0"/>
          </a:p>
          <a:p>
            <a:r>
              <a:rPr lang="hu-HU" sz="2400" b="1" dirty="0"/>
              <a:t>Javasolt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a 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Keresés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CB4A642-E289-D849-9780-C21666DBF77C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400" dirty="0"/>
              <a:t>Online </a:t>
            </a:r>
            <a:r>
              <a:rPr lang="hu-HU" sz="1400" dirty="0" err="1"/>
              <a:t>KMeans</a:t>
            </a:r>
            <a:endParaRPr lang="hu-HU" sz="1400" dirty="0"/>
          </a:p>
          <a:p>
            <a:pPr lvl="1"/>
            <a:r>
              <a:rPr lang="hu-HU" sz="1400" dirty="0" err="1"/>
              <a:t>KMeans</a:t>
            </a:r>
            <a:r>
              <a:rPr lang="hu-HU" sz="1400" dirty="0"/>
              <a:t>++ inicializálás</a:t>
            </a:r>
          </a:p>
          <a:p>
            <a:pPr lvl="1"/>
            <a:r>
              <a:rPr lang="hu-HU" sz="1400" dirty="0" err="1"/>
              <a:t>Centroidok</a:t>
            </a:r>
            <a:r>
              <a:rPr lang="hu-HU" sz="14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r>
              <a:rPr lang="hu-HU" sz="1400" dirty="0"/>
              <a:t>Gyors, memória hatékony megközelítés:</a:t>
            </a:r>
          </a:p>
          <a:p>
            <a:pPr lvl="2"/>
            <a:r>
              <a:rPr lang="hu-HU" sz="1400" dirty="0"/>
              <a:t>Memóriában tárolt adatok:</a:t>
            </a:r>
          </a:p>
          <a:p>
            <a:pPr lvl="3"/>
            <a:r>
              <a:rPr lang="hu-HU" sz="1400" dirty="0"/>
              <a:t>Batch </a:t>
            </a:r>
            <a:r>
              <a:rPr lang="hu-HU" sz="1400" dirty="0" err="1"/>
              <a:t>embeddingek</a:t>
            </a:r>
            <a:endParaRPr lang="hu-HU" sz="1400" dirty="0"/>
          </a:p>
          <a:p>
            <a:pPr lvl="3"/>
            <a:r>
              <a:rPr lang="hu-HU" sz="1400" dirty="0"/>
              <a:t>Klaszterközéppontok tömbje</a:t>
            </a:r>
          </a:p>
          <a:p>
            <a:pPr lvl="3"/>
            <a:r>
              <a:rPr lang="hu-HU" sz="1400" dirty="0"/>
              <a:t>Egyes klaszterek elemszáma</a:t>
            </a:r>
          </a:p>
          <a:p>
            <a:pPr lvl="3"/>
            <a:r>
              <a:rPr lang="hu-HU" sz="1400" dirty="0"/>
              <a:t>Klaszterekhez tartozó pontok koordinátáinak összege</a:t>
            </a:r>
          </a:p>
          <a:p>
            <a:pPr lvl="3"/>
            <a:r>
              <a:rPr lang="hu-HU" sz="1400" dirty="0"/>
              <a:t>Klaszterekhez tartozó variancia értékek</a:t>
            </a:r>
          </a:p>
          <a:p>
            <a:pPr lvl="3"/>
            <a:r>
              <a:rPr lang="hu-HU" sz="1400" dirty="0"/>
              <a:t>Eddig feldolgozott adatpontok száma</a:t>
            </a:r>
          </a:p>
          <a:p>
            <a:pPr lvl="3"/>
            <a:endParaRPr lang="hu-HU" sz="1400" dirty="0"/>
          </a:p>
          <a:p>
            <a:pPr lvl="1"/>
            <a:endParaRPr lang="hu-HU" sz="1400" dirty="0"/>
          </a:p>
        </p:txBody>
      </p:sp>
      <p:pic>
        <p:nvPicPr>
          <p:cNvPr id="6" name="Kép 5" descr="A képen szöveg, képernyőkép, diagram, virág látható&#10;&#10;Automatikusan generált leírás">
            <a:extLst>
              <a:ext uri="{FF2B5EF4-FFF2-40B4-BE49-F238E27FC236}">
                <a16:creationId xmlns:a16="http://schemas.microsoft.com/office/drawing/2014/main" id="{245F4905-3F8F-943C-C1CA-D7CE1257A4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72615"/>
            <a:ext cx="5528519" cy="4422811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8268" y="3509627"/>
            <a:ext cx="3138201" cy="627640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3B65CD1-5108-2149-AD8B-F412A6622A91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/>
          <a:lstStyle/>
          <a:p>
            <a:r>
              <a:rPr lang="hu-HU" b="1"/>
              <a:t>Klaszterezési algoritmusok futásideje</a:t>
            </a:r>
            <a:endParaRPr lang="hu-HU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F7F41-D779-A547-A1A3-0928E654DA43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r>
              <a:rPr lang="hu-HU" dirty="0"/>
              <a:t>/14</a:t>
            </a:r>
          </a:p>
        </p:txBody>
      </p:sp>
      <p:pic>
        <p:nvPicPr>
          <p:cNvPr id="6" name="Tartalom helye 5" descr="A képen szöveg, sor, Diagram, lejtő látható&#10;&#10;Automatikusan generált leírás">
            <a:extLst>
              <a:ext uri="{FF2B5EF4-FFF2-40B4-BE49-F238E27FC236}">
                <a16:creationId xmlns:a16="http://schemas.microsoft.com/office/drawing/2014/main" id="{3078236B-B827-03F9-A54C-3F005ABEBE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94" y="1181826"/>
            <a:ext cx="6561807" cy="2643521"/>
          </a:xfrm>
          <a:prstGeom prst="rect">
            <a:avLst/>
          </a:prstGeom>
        </p:spPr>
      </p:pic>
      <p:pic>
        <p:nvPicPr>
          <p:cNvPr id="7" name="Kép 6" descr="A képen sor, szöveg, Diagram, diagram látható&#10;&#10;Automatikusan generált leírás">
            <a:extLst>
              <a:ext uri="{FF2B5EF4-FFF2-40B4-BE49-F238E27FC236}">
                <a16:creationId xmlns:a16="http://schemas.microsoft.com/office/drawing/2014/main" id="{E294BD32-45DE-6C53-8895-3CA78EF15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93" y="3596820"/>
            <a:ext cx="6555825" cy="2643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9F031-1307-194F-983A-F3429BE6CD69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/14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/>
              <a:t>Klaszterezést használó retrieval pipeline eredményei</a:t>
            </a:r>
            <a:endParaRPr lang="hu-HU" b="1" dirty="0"/>
          </a:p>
        </p:txBody>
      </p:sp>
      <p:pic>
        <p:nvPicPr>
          <p:cNvPr id="11" name="Tartalom helye 10" descr="A képen Diagram, szöveg, sor, diagram látható&#10;&#10;Automatikusan generált leírás">
            <a:extLst>
              <a:ext uri="{FF2B5EF4-FFF2-40B4-BE49-F238E27FC236}">
                <a16:creationId xmlns:a16="http://schemas.microsoft.com/office/drawing/2014/main" id="{62F51D3B-E381-53A4-3849-B46A6F6B69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0"/>
            <a:ext cx="7656394" cy="2975283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89548-D724-1F48-B49D-E29266C4BD81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/>
              <a:t>/14</a:t>
            </a:r>
            <a:endParaRPr lang="hu-HU" dirty="0"/>
          </a:p>
        </p:txBody>
      </p:sp>
      <p:pic>
        <p:nvPicPr>
          <p:cNvPr id="15" name="Kép 14" descr="A képen szöveg, Diagram, sor, diagram látható&#10;&#10;Automatikusan generált leírás">
            <a:extLst>
              <a:ext uri="{FF2B5EF4-FFF2-40B4-BE49-F238E27FC236}">
                <a16:creationId xmlns:a16="http://schemas.microsoft.com/office/drawing/2014/main" id="{6DC5E5B6-820F-1D87-F87E-4FDD129FB8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592" y="937197"/>
            <a:ext cx="73533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sz="4800" b="1" dirty="0" err="1"/>
              <a:t>Retrieval</a:t>
            </a:r>
            <a:r>
              <a:rPr lang="hu-HU" sz="4800" b="1" dirty="0"/>
              <a:t> </a:t>
            </a:r>
            <a:r>
              <a:rPr lang="hu-HU" sz="4800" b="1" dirty="0" err="1"/>
              <a:t>pipeline</a:t>
            </a:r>
            <a:r>
              <a:rPr lang="hu-HU" sz="4800" b="1" dirty="0"/>
              <a:t> változó dokumentum halmazzal</a:t>
            </a:r>
          </a:p>
        </p:txBody>
      </p:sp>
      <p:pic>
        <p:nvPicPr>
          <p:cNvPr id="7" name="Tartalom helye 6" descr="A képen sor, képernyőkép, szöveg, Diagram látható&#10;&#10;Automatikusan generált leírás">
            <a:extLst>
              <a:ext uri="{FF2B5EF4-FFF2-40B4-BE49-F238E27FC236}">
                <a16:creationId xmlns:a16="http://schemas.microsoft.com/office/drawing/2014/main" id="{69244BA0-3284-17E6-B1CB-BBD868B9EB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341" y="1690688"/>
            <a:ext cx="10259317" cy="3986781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2025. 10. 17.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376977C-6CB9-779E-8D6F-49F6DE241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További haladás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40ABDB-9970-C351-2826-969E942BF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Átfogó kiértékelése a két megközelítésnek:</a:t>
            </a:r>
          </a:p>
          <a:p>
            <a:pPr marL="1371600" lvl="2" indent="-457200">
              <a:buFont typeface="+mj-lt"/>
              <a:buAutoNum type="arabicPeriod"/>
            </a:pPr>
            <a:r>
              <a:rPr lang="hu-HU" sz="2200" dirty="0" err="1"/>
              <a:t>Centroidok</a:t>
            </a:r>
            <a:r>
              <a:rPr lang="hu-HU" sz="2200" dirty="0"/>
              <a:t> hasonlítása majd legjobb klaszterekben keresés </a:t>
            </a:r>
            <a:r>
              <a:rPr lang="hu-HU" sz="2200" dirty="0" err="1"/>
              <a:t>vs</a:t>
            </a:r>
            <a:r>
              <a:rPr lang="hu-HU" sz="2200" dirty="0"/>
              <a:t>. Összes </a:t>
            </a:r>
            <a:r>
              <a:rPr lang="hu-HU" sz="2200" dirty="0" err="1"/>
              <a:t>embedding-gel</a:t>
            </a:r>
            <a:r>
              <a:rPr lang="hu-HU" sz="2200" dirty="0"/>
              <a:t> számolni</a:t>
            </a:r>
          </a:p>
          <a:p>
            <a:pPr marL="1371600" lvl="2" indent="-457200">
              <a:buFont typeface="+mj-lt"/>
              <a:buAutoNum type="arabicPeriod"/>
            </a:pPr>
            <a:r>
              <a:rPr lang="hu-HU" sz="2200" dirty="0"/>
              <a:t>Dinamikusan változó dokumentumtér vizsgálata online </a:t>
            </a:r>
            <a:r>
              <a:rPr lang="hu-HU" sz="2200" dirty="0" err="1"/>
              <a:t>klaszterezéssel</a:t>
            </a:r>
            <a:endParaRPr lang="hu-HU" sz="2200" dirty="0"/>
          </a:p>
          <a:p>
            <a:r>
              <a:rPr lang="hu-HU" sz="2200" dirty="0"/>
              <a:t>Esetleg </a:t>
            </a:r>
            <a:r>
              <a:rPr lang="hu-HU" sz="2200" dirty="0" err="1"/>
              <a:t>vsi</a:t>
            </a:r>
            <a:r>
              <a:rPr lang="hu-HU" sz="2200" dirty="0"/>
              <a:t> táblák kipróbálása és használata online </a:t>
            </a:r>
            <a:r>
              <a:rPr lang="hu-HU" sz="2200" dirty="0" err="1"/>
              <a:t>klaszterezéssel</a:t>
            </a:r>
            <a:endParaRPr lang="hu-HU" sz="2200" dirty="0"/>
          </a:p>
          <a:p>
            <a:pPr marL="1371600" lvl="2" indent="-457200">
              <a:buFont typeface="+mj-lt"/>
              <a:buAutoNum type="arabicPeriod"/>
            </a:pP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F55404-988E-AC28-7C28-9190089708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6BDB9A-E5F6-D843-9EFC-7C31F2021ACF}" type="datetime1">
              <a:rPr lang="hu-HU" smtClean="0"/>
              <a:pPr>
                <a:spcAft>
                  <a:spcPts val="600"/>
                </a:spcAft>
              </a:pPr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2456EEB-17BA-B0B0-C488-EDBB27193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13</a:t>
            </a:fld>
            <a:r>
              <a:rPr lang="hu-HU" dirty="0"/>
              <a:t>/14</a:t>
            </a:r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5406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36B3B0-4171-B5F7-E6F0-D915C7616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hu-HU" sz="6600" b="1" dirty="0"/>
              <a:t>Köszönöm szépen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6B977B9-1CBB-E874-326C-FA40AFC6D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hu-HU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2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2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u="sng" dirty="0" err="1"/>
              <a:t>Varun</a:t>
            </a:r>
            <a:r>
              <a:rPr lang="hu-HU" sz="1800" u="sng" dirty="0"/>
              <a:t>, </a:t>
            </a:r>
            <a:r>
              <a:rPr lang="hu-HU" sz="1800" dirty="0"/>
              <a:t>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u="sng" dirty="0">
                <a:hlinkClick r:id="rId3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69F3F-A62C-A143-BDC3-1E7D9C7303DA}" type="datetime1">
              <a:rPr lang="hu-HU" smtClean="0"/>
              <a:t>2025. 10. 16.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</TotalTime>
  <Words>280</Words>
  <Application>Microsoft Macintosh PowerPoint</Application>
  <PresentationFormat>Szélesvásznú</PresentationFormat>
  <Paragraphs>84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Office-téma</vt:lpstr>
      <vt:lpstr>Klaszterezési technikák alkalmazása az embedding-alapú visszakeresés hatékonyságának növelésére RAG környezetben</vt:lpstr>
      <vt:lpstr>Retrieval Augmented Generation</vt:lpstr>
      <vt:lpstr>Adat előfeldolgozás</vt:lpstr>
      <vt:lpstr>Szövegbeágyazás</vt:lpstr>
      <vt:lpstr>Hasonlóság mérési technikák</vt:lpstr>
      <vt:lpstr>Javasolt RAG-folyamat</vt:lpstr>
      <vt:lpstr>Klaszterezési módszerek a pipeline-ban</vt:lpstr>
      <vt:lpstr>Dinamikusan változó dokumentumtér kezelése</vt:lpstr>
      <vt:lpstr>Klaszterezési algoritmusok futásideje</vt:lpstr>
      <vt:lpstr>Klaszterezési algoritmusok pontossága</vt:lpstr>
      <vt:lpstr>Klaszterezést használó retrieval pipeline eredményei</vt:lpstr>
      <vt:lpstr>Retrieval pipeline változó dokumentum halmazzal</vt:lpstr>
      <vt:lpstr>További haladás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49</cp:revision>
  <dcterms:created xsi:type="dcterms:W3CDTF">2025-10-16T06:59:48Z</dcterms:created>
  <dcterms:modified xsi:type="dcterms:W3CDTF">2025-10-17T08:48:26Z</dcterms:modified>
</cp:coreProperties>
</file>