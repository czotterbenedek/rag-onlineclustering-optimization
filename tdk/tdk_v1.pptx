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71" r:id="rId10"/>
    <p:sldId id="273" r:id="rId11"/>
    <p:sldId id="265" r:id="rId12"/>
    <p:sldId id="274" r:id="rId13"/>
    <p:sldId id="266" r:id="rId14"/>
    <p:sldId id="275" r:id="rId15"/>
    <p:sldId id="267" r:id="rId16"/>
    <p:sldId id="272" r:id="rId17"/>
    <p:sldId id="270" r:id="rId18"/>
    <p:sldId id="276" r:id="rId19"/>
    <p:sldId id="277" r:id="rId20"/>
    <p:sldId id="269" r:id="rId21"/>
    <p:sldId id="268" r:id="rId22"/>
    <p:sldId id="260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5BC8E-5813-4F4E-B35B-0E3B0D0BF7D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544B-8942-4253-A6F4-42DBF943B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000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4DB2B-8DEF-2080-F11C-465FD434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135B9-F6BB-323C-16DB-A499A7DC8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EC609-60CE-4350-E413-7FDC500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71CAD-6F13-184D-A3E8-750FE35B9EBC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D0B685-2D51-EC98-5512-ADA6057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18B57-9AD5-F8B1-7D62-6C17616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09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CF2C6-9A46-26C0-C82F-1AA66FB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08F35-F4ED-DD84-DB4B-08C7B09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9BC9F9-FE85-CD53-532C-2AC7ABE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5E67FB-FBFF-CF0C-CD26-0808780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1F5668-D494-D40D-4572-EBD0DE2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8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7D912-7FB2-707D-4A95-BE6D918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A09965-A8C0-57B4-EA3E-9D8BEE51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DCE928-BAB9-6766-9725-B5C56187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43F7-EB01-1C49-8DF4-B5E7D3EDCB05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F8346E-83CB-DFF1-BE9F-EA269F6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3C63F5-010B-97CF-A6DB-D9CE184B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49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EC0E3-0F3D-C52A-737C-3F0EAE17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74A1-A246-260F-3BB3-CC63041E2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7370C1-A55B-4347-9AFF-FBB7C7DB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B944EE-1BCA-4350-F5E3-E74400E5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A0E93-9A86-7044-A356-C546BEFBED63}" type="datetime1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D111C8-FFDD-AD48-1F1C-C1D5E031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5E365C-7E1D-964A-F5BD-242E24C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09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DD2C5-25D5-03F8-F0B5-2D834517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D00EE9-0968-8C1C-9DFE-FCCAFA35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C6633E-DB2F-4E35-6FF5-E9871528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D64006-2C03-7143-B016-A2F4F3E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049EE41-4C75-3885-16E2-420BF437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F8C02EA-55F4-5050-B8CD-28A0797D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4146-0A6C-8F43-AB21-D823E7CB24D4}" type="datetime1">
              <a:rPr lang="hu-HU" smtClean="0"/>
              <a:t>2025. 11. 06.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EA56DC6-3AEF-250F-41B9-259623F4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687F30-7E14-114B-C70F-CF485CB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3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34E4A-294A-C3DC-A26B-804DA671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109F264-4028-4C48-80B8-2CE954E5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C242-AF4E-0F4E-B1A5-0050A5B92112}" type="datetime1">
              <a:rPr lang="hu-HU" smtClean="0"/>
              <a:t>2025. 11. 06.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EE7FD6-BE4D-B54F-C44C-B46ED0E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EB0A85-D335-E07A-B9FD-7762BEE7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7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B8FE99-87E4-CE9E-0204-2086B16A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6928-E8BB-F645-9B89-505C65382616}" type="datetime1">
              <a:rPr lang="hu-HU" smtClean="0"/>
              <a:t>2025. 11. 06.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36B521C-2A39-F3BF-0344-69AF5661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AC11E4-41B0-8958-838C-DB5DA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0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BBEBCA-9137-494C-DE47-D6E4105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851373-52A0-A154-6D22-0DF9BF2F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341CCE-5FBC-E08F-AC03-AB7651FF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EC641-5857-545B-2AE6-EB903C8C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935B-306A-AF4A-83C7-5ACF2C37EC40}" type="datetime1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D02E3-A25F-EA0F-B7C0-03B5DE5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E99EED-022D-0343-CEFD-53F0984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640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DE40E-CDF9-03AB-1881-714B792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8AD9E0-FC0E-1BDE-A150-484164A32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B01F831-4CD3-EB3C-BFEA-D38B52A3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4EB230-CFD0-14C5-8666-82F98A3E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3F5C2-BC5C-E946-BE19-5970FFE88346}" type="datetime1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E63473-501A-4B53-ED84-EF20021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35C4E8-A16D-C025-3ADF-18E56759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1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80F146-820D-3614-D4B6-AA5EC5D2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F19BF5-021D-31DB-E02E-E6C8F7FD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5EA86F-CAF9-4C40-D15F-19E89F13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7407-E380-7C4C-956A-D6E19B9BA48E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322BA5-50F8-4603-D4F8-DF474B31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37B239-93B1-F8A2-F7FE-B9A1399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1E548B-19CA-9464-3B87-0BC2A303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5D9155-C809-5256-8273-A47769230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946F68-DFF0-22FD-5981-51D527B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1641-DB98-1945-938C-2D56ADE4DCEF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6CBAED-2D0B-C1A8-24B8-6EA4F12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F7CBFF9-FC11-30AE-A40E-6458F24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7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8F09FF2-7741-43DF-79AA-10D5CB26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FF5B2-37C4-8C87-5666-64A079D6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98144B-91D0-2412-B4E5-5993F321C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A9AB3-3E45-1F4D-91EA-19B6CDD7EF89}" type="datetime1">
              <a:rPr lang="hu-HU" smtClean="0"/>
              <a:t>2025. 11. 06.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6A45CC-E416-D676-0924-83E1F878D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25B3B-ADD0-88C9-63BF-F659E0CE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5385-442F-994D-B617-1C3CED302E24}" type="slidenum">
              <a:rPr lang="hu-HU" smtClean="0"/>
              <a:pPr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466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cosine-similarity-how-does-it-measure-the-similarity-maths-behind-and-usage-in-python-50ad30aad7db/" TargetMode="External"/><Relationship Id="rId2" Type="http://schemas.openxmlformats.org/officeDocument/2006/relationships/hyperlink" Target="https://medium.com/@hari4om/word-embedding-d816f64314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C7F701-9F55-4F13-1103-DD725E15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hu-HU" sz="4800" b="1" dirty="0" err="1">
                <a:solidFill>
                  <a:srgbClr val="000000"/>
                </a:solidFill>
                <a:effectLst/>
                <a:latin typeface="+mn-lt"/>
              </a:rPr>
              <a:t>Klaszterezési</a:t>
            </a: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 stratégiák alkalmazása RAG rendszerek</a:t>
            </a:r>
            <a:b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hatékonyságának növelésére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D226D7-1AA8-F259-77E0-A48544EC3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725987"/>
            <a:ext cx="3946779" cy="10382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Készítette: Czotter Benedek</a:t>
            </a:r>
          </a:p>
          <a:p>
            <a:pPr algn="l"/>
            <a:r>
              <a:rPr lang="hu-HU" dirty="0"/>
              <a:t>Konzulens: Dr. Szűcs Gábor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0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6A5C5B-9E91-0643-44A3-847AC21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Retrieval Augmented Generation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6484474F-5500-8FDB-CF4B-D9EE49C3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A438-3713-F446-BD7A-55D18856C613}" type="datetime1">
              <a:rPr lang="hu-HU" smtClean="0"/>
              <a:t>2025. 11. 06.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212F9E-E412-BF89-1EF4-37D10781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</a:t>
            </a:fld>
            <a:r>
              <a:rPr lang="hu-HU" dirty="0"/>
              <a:t>/14</a:t>
            </a:r>
          </a:p>
        </p:txBody>
      </p:sp>
      <p:pic>
        <p:nvPicPr>
          <p:cNvPr id="14" name="Tartalom helye 13" descr="A képen képernyőkép, diagram, tervezés látható&#10;&#10;Automatikusan generált leírás">
            <a:extLst>
              <a:ext uri="{FF2B5EF4-FFF2-40B4-BE49-F238E27FC236}">
                <a16:creationId xmlns:a16="http://schemas.microsoft.com/office/drawing/2014/main" id="{39C365F9-1952-04F6-0DD6-246F05AEF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75" y="2297565"/>
            <a:ext cx="11787051" cy="3428190"/>
          </a:xfrm>
        </p:spPr>
      </p:pic>
    </p:spTree>
    <p:extLst>
      <p:ext uri="{BB962C8B-B14F-4D97-AF65-F5344CB8AC3E}">
        <p14:creationId xmlns:p14="http://schemas.microsoft.com/office/powerpoint/2010/main" val="209004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085D84-3FE9-0FAB-EC09-3D2AE409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Adat előfeldolgozás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36D4E-16AE-FBE8-78A6-2BC51FE73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Adathalmaz: </a:t>
            </a:r>
            <a:r>
              <a:rPr lang="hu-HU" sz="2200" dirty="0" err="1"/>
              <a:t>SQuAD</a:t>
            </a:r>
            <a:r>
              <a:rPr lang="hu-HU" sz="2200" dirty="0"/>
              <a:t> (Stanford </a:t>
            </a:r>
            <a:r>
              <a:rPr lang="hu-HU" sz="2200" dirty="0" err="1"/>
              <a:t>Question</a:t>
            </a:r>
            <a:r>
              <a:rPr lang="hu-HU" sz="2200" dirty="0"/>
              <a:t> </a:t>
            </a:r>
            <a:r>
              <a:rPr lang="hu-HU" sz="2200" dirty="0" err="1"/>
              <a:t>Answering</a:t>
            </a:r>
            <a:r>
              <a:rPr lang="hu-HU" sz="2200" dirty="0"/>
              <a:t> </a:t>
            </a:r>
            <a:r>
              <a:rPr lang="hu-HU" sz="2200" dirty="0" err="1"/>
              <a:t>Dataset</a:t>
            </a:r>
            <a:r>
              <a:rPr lang="hu-HU" sz="2200" dirty="0"/>
              <a:t>)</a:t>
            </a:r>
          </a:p>
          <a:p>
            <a:r>
              <a:rPr lang="hu-HU" sz="2200" dirty="0"/>
              <a:t>Lépések:</a:t>
            </a:r>
          </a:p>
          <a:p>
            <a:pPr lvl="1"/>
            <a:r>
              <a:rPr lang="hu-HU" sz="2200" dirty="0"/>
              <a:t>Szövegtisztítás</a:t>
            </a:r>
            <a:endParaRPr lang="hu-HU" sz="1800" dirty="0"/>
          </a:p>
          <a:p>
            <a:pPr lvl="1"/>
            <a:r>
              <a:rPr lang="hu-HU" sz="2200" dirty="0" err="1"/>
              <a:t>Semantic</a:t>
            </a:r>
            <a:r>
              <a:rPr lang="hu-HU" sz="2200" dirty="0"/>
              <a:t> </a:t>
            </a:r>
            <a:r>
              <a:rPr lang="hu-HU" sz="2200" dirty="0" err="1"/>
              <a:t>Chunking</a:t>
            </a: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D33E1A-9F78-8DDB-E533-F6F1045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C56D-A89B-7A46-BB67-D506DBA2B2C4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E7E744-A3B0-E6B0-D52B-2E63E6FD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3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24074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A4660E-4A32-038B-AF65-015EA7CC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Szövegbeágyazás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052BD-6EB2-AAA0-16FF-931515F3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hu-HU" sz="2200" dirty="0" err="1"/>
              <a:t>Sentence</a:t>
            </a:r>
            <a:r>
              <a:rPr lang="hu-HU" sz="2200" dirty="0"/>
              <a:t> Transformers</a:t>
            </a:r>
          </a:p>
          <a:p>
            <a:pPr lvl="1"/>
            <a:r>
              <a:rPr lang="hu-HU" sz="2200" dirty="0"/>
              <a:t>all-MiniLM-L6-v2 (384 </a:t>
            </a:r>
            <a:r>
              <a:rPr lang="hu-HU" sz="2200" dirty="0" err="1"/>
              <a:t>Dim</a:t>
            </a:r>
            <a:r>
              <a:rPr lang="hu-HU" sz="2200" dirty="0"/>
              <a:t>)</a:t>
            </a:r>
          </a:p>
          <a:p>
            <a:pPr lvl="1"/>
            <a:r>
              <a:rPr lang="hu-HU" sz="2200" dirty="0" err="1"/>
              <a:t>Snowflake's</a:t>
            </a:r>
            <a:r>
              <a:rPr lang="hu-HU" sz="2200" dirty="0"/>
              <a:t> Arctic-embed-l-v2.0</a:t>
            </a:r>
            <a:br>
              <a:rPr lang="hu-HU" sz="2200" dirty="0"/>
            </a:br>
            <a:r>
              <a:rPr lang="hu-HU" dirty="0"/>
              <a:t>(1024 </a:t>
            </a:r>
            <a:r>
              <a:rPr lang="hu-HU" dirty="0" err="1"/>
              <a:t>Dim</a:t>
            </a:r>
            <a:r>
              <a:rPr lang="hu-HU" dirty="0"/>
              <a:t>)</a:t>
            </a:r>
            <a:endParaRPr lang="hu-HU" sz="2200" dirty="0"/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38C620-5264-DB09-4CF1-E8C34315C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88711"/>
            <a:ext cx="5458968" cy="4080577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5FC17286-E09C-988D-7A3E-A6EA492C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CB8C-8A8C-8F41-B579-E127A30BCC8D}" type="datetime1">
              <a:rPr lang="hu-HU" smtClean="0"/>
              <a:t>2025. 11. 06.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C011C3C-48AD-743A-BE84-CF8CD44B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F88ADF-3301-4598-B089-C6A4CC92BE83}" type="slidenum">
              <a:rPr lang="hu-HU" smtClean="0"/>
              <a:t>4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24298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F3E87-EBE0-66DC-D57E-421234F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Hasonlóságmérési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D3208-6822-370E-384A-EFB65A7D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Koszinusz hasonlóság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r>
              <a:rPr lang="hu-HU" dirty="0"/>
              <a:t>Euklideszi távolság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Betűtípus, szöveg, fehér, diagram látható&#10;&#10;Automatikusan generált leírás">
            <a:extLst>
              <a:ext uri="{FF2B5EF4-FFF2-40B4-BE49-F238E27FC236}">
                <a16:creationId xmlns:a16="http://schemas.microsoft.com/office/drawing/2014/main" id="{0B81ECA3-4102-FB78-48FC-AFD4041D17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9" y="2352457"/>
            <a:ext cx="3451902" cy="123048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2E1FD49-5445-467A-8611-01B9A39D2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298" y="4109778"/>
            <a:ext cx="2225404" cy="1106688"/>
          </a:xfrm>
          <a:prstGeom prst="rect">
            <a:avLst/>
          </a:prstGeom>
        </p:spPr>
      </p:pic>
      <p:sp>
        <p:nvSpPr>
          <p:cNvPr id="7" name="Dátum helye 6">
            <a:extLst>
              <a:ext uri="{FF2B5EF4-FFF2-40B4-BE49-F238E27FC236}">
                <a16:creationId xmlns:a16="http://schemas.microsoft.com/office/drawing/2014/main" id="{0C16F16A-0BC8-180B-88A1-FD120524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D167-9427-CA44-9384-E35089ED55DF}" type="datetime1">
              <a:rPr lang="hu-HU" smtClean="0"/>
              <a:t>2025. 11. 06.</a:t>
            </a:fld>
            <a:endParaRPr lang="hu-HU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8D7187B-3D5F-EB1E-39BB-72BB69B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5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15927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57D935-F018-FC86-5390-C2B7453B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Javasolt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RAG-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folyamat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artalom helye 8" descr="A képen képernyőkép, diagram, sor, Post-it cetli látható&#10;&#10;Automatikusan generált leírás">
            <a:extLst>
              <a:ext uri="{FF2B5EF4-FFF2-40B4-BE49-F238E27FC236}">
                <a16:creationId xmlns:a16="http://schemas.microsoft.com/office/drawing/2014/main" id="{A9ED6514-68CD-D91D-24B7-55E20E55B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40" y="2218074"/>
            <a:ext cx="11945522" cy="4001751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755509C4-3B07-3F44-A1AF-BC312BDB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410DB5E-A372-294A-ADC7-737DED99DBCB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11/6/25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1C41BA-0408-1C95-90B5-3A2002F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r>
              <a:rPr lang="en-US">
                <a:solidFill>
                  <a:schemeClr val="tx1">
                    <a:tint val="75000"/>
                  </a:schemeClr>
                </a:solidFill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38225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989D33-1F34-EFC3-2811-8F78ED2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600" b="1"/>
              <a:t>Klaszterezési módszerek a pipeline-ban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32037-C5E5-5EDE-7C62-8003AA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Alap</a:t>
            </a:r>
            <a:r>
              <a:rPr lang="en-US" sz="2400" b="1" dirty="0"/>
              <a:t>:</a:t>
            </a:r>
            <a:r>
              <a:rPr lang="en-US" sz="2400" dirty="0"/>
              <a:t> similarity search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embeddingen</a:t>
            </a:r>
            <a:r>
              <a:rPr lang="en-US" sz="2400" dirty="0"/>
              <a:t> (Brute force)</a:t>
            </a:r>
            <a:endParaRPr lang="hu-HU" sz="2400" dirty="0"/>
          </a:p>
          <a:p>
            <a:r>
              <a:rPr lang="hu-HU" sz="2400" b="1" dirty="0"/>
              <a:t>Javasolt megközelítés: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Embeddingek</a:t>
            </a:r>
            <a:r>
              <a:rPr lang="hu-HU" dirty="0"/>
              <a:t> </a:t>
            </a:r>
            <a:r>
              <a:rPr lang="hu-HU" dirty="0" err="1"/>
              <a:t>klaszterezése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Similarity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a </a:t>
            </a:r>
            <a:r>
              <a:rPr lang="hu-HU" dirty="0" err="1"/>
              <a:t>centroidokra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Keresés a legrelevánsabb klasztereken belül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Újonnan érkező dokumentumok integrálása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4F2DB9-72D6-5A2C-0BA0-9544D759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B4A642-E289-D849-9780-C21666DBF77C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48E5D5-F0E1-BE18-E9A2-172A965D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7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9993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9670FB-06C8-7731-7B4D-6FB4E928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Dinamikusan változó dokumentumtér kezelése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83A24-EFD9-58C9-AA84-885E6938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649726"/>
          </a:xfrm>
        </p:spPr>
        <p:txBody>
          <a:bodyPr>
            <a:normAutofit/>
          </a:bodyPr>
          <a:lstStyle/>
          <a:p>
            <a:r>
              <a:rPr lang="hu-HU" sz="1400" dirty="0"/>
              <a:t>Online </a:t>
            </a:r>
            <a:r>
              <a:rPr lang="hu-HU" sz="1400" dirty="0" err="1"/>
              <a:t>KMeans</a:t>
            </a:r>
            <a:endParaRPr lang="hu-HU" sz="1400" dirty="0"/>
          </a:p>
          <a:p>
            <a:pPr lvl="1"/>
            <a:r>
              <a:rPr lang="hu-HU" sz="1400" dirty="0" err="1"/>
              <a:t>KMeans</a:t>
            </a:r>
            <a:r>
              <a:rPr lang="hu-HU" sz="1400" dirty="0"/>
              <a:t>++ inicializálás</a:t>
            </a:r>
          </a:p>
          <a:p>
            <a:pPr lvl="1"/>
            <a:r>
              <a:rPr lang="hu-HU" sz="1400" dirty="0" err="1"/>
              <a:t>Centroidok</a:t>
            </a:r>
            <a:r>
              <a:rPr lang="hu-HU" sz="1400" dirty="0"/>
              <a:t> dinamikus frissítése:</a:t>
            </a:r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r>
              <a:rPr lang="hu-HU" sz="1400" dirty="0"/>
              <a:t>Gyors, memória hatékony megközelítés:</a:t>
            </a:r>
          </a:p>
          <a:p>
            <a:pPr lvl="2"/>
            <a:r>
              <a:rPr lang="hu-HU" sz="1400" dirty="0"/>
              <a:t>Memóriában tárolt adatok:</a:t>
            </a:r>
          </a:p>
          <a:p>
            <a:pPr lvl="3"/>
            <a:r>
              <a:rPr lang="hu-HU" sz="1400" dirty="0"/>
              <a:t>Batch </a:t>
            </a:r>
            <a:r>
              <a:rPr lang="hu-HU" sz="1400" dirty="0" err="1"/>
              <a:t>embeddingek</a:t>
            </a:r>
            <a:endParaRPr lang="hu-HU" sz="1400" dirty="0"/>
          </a:p>
          <a:p>
            <a:pPr lvl="3"/>
            <a:r>
              <a:rPr lang="hu-HU" sz="1400" dirty="0"/>
              <a:t>Klaszterközéppontok tömbje</a:t>
            </a:r>
          </a:p>
          <a:p>
            <a:pPr lvl="3"/>
            <a:r>
              <a:rPr lang="hu-HU" sz="1400" dirty="0"/>
              <a:t>Egyes klaszterek elemszáma</a:t>
            </a:r>
          </a:p>
          <a:p>
            <a:pPr lvl="3"/>
            <a:r>
              <a:rPr lang="hu-HU" sz="1400" dirty="0"/>
              <a:t>Klaszterekhez tartozó pontok koordinátáinak összege</a:t>
            </a:r>
          </a:p>
          <a:p>
            <a:pPr lvl="3"/>
            <a:r>
              <a:rPr lang="hu-HU" sz="1400" dirty="0"/>
              <a:t>Klaszterekhez tartozó variancia értékek</a:t>
            </a:r>
          </a:p>
          <a:p>
            <a:pPr lvl="3"/>
            <a:r>
              <a:rPr lang="hu-HU" sz="1400" dirty="0"/>
              <a:t>Eddig feldolgozott adatpontok száma</a:t>
            </a:r>
          </a:p>
          <a:p>
            <a:pPr lvl="3"/>
            <a:endParaRPr lang="hu-HU" sz="1400" dirty="0"/>
          </a:p>
          <a:p>
            <a:pPr lvl="1"/>
            <a:endParaRPr lang="hu-HU" sz="140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A26DC97-398A-863A-3107-51A57D9ED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268" y="3509627"/>
            <a:ext cx="3138201" cy="627640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E745C1BA-EB1E-45BE-667D-E9C4B10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3B65CD1-5108-2149-AD8B-F412A6622A91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0D9E1E-E844-A26C-DE5F-59457F1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8</a:t>
            </a:fld>
            <a:r>
              <a:rPr lang="hu-HU" dirty="0"/>
              <a:t>/14</a:t>
            </a:r>
          </a:p>
        </p:txBody>
      </p:sp>
      <p:pic>
        <p:nvPicPr>
          <p:cNvPr id="8" name="Kép 7" descr="A képen szöveg, virág, képernyőkép látható&#10;&#10;Automatikusan generált leírás">
            <a:extLst>
              <a:ext uri="{FF2B5EF4-FFF2-40B4-BE49-F238E27FC236}">
                <a16:creationId xmlns:a16="http://schemas.microsoft.com/office/drawing/2014/main" id="{47A3CB95-E303-4CC1-F4D5-60EBAF4B2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3" y="1936713"/>
            <a:ext cx="5613795" cy="44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C5B991-DADF-8037-2F70-760F6D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Online </a:t>
            </a:r>
            <a:r>
              <a:rPr lang="hu-HU" b="1" dirty="0" err="1"/>
              <a:t>KMeans</a:t>
            </a:r>
            <a:r>
              <a:rPr lang="hu-HU" b="1" dirty="0"/>
              <a:t> algoritmusom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B4EA16-1807-1461-C3A0-9C7A7B68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584BDD-2D8D-647B-59AD-888BF15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9</a:t>
            </a:fld>
            <a:endParaRPr lang="hu-HU"/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3C25C462-0493-14FC-7AFB-DF71D474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6A99B93-22A6-9F32-8B40-D36FE50F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95" y="1659144"/>
            <a:ext cx="10857410" cy="468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1CC8E9-356E-2A8A-498D-1B17C27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futásideje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B8D71-B18A-E16D-5FBE-EF862C7B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Kiértékelés menete: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(18.891 dokumentumból) vektor </a:t>
            </a:r>
            <a:r>
              <a:rPr lang="hu-HU" dirty="0" err="1"/>
              <a:t>klaszterezése</a:t>
            </a:r>
            <a:r>
              <a:rPr lang="hu-HU" dirty="0"/>
              <a:t> változó klaszterszámokra.</a:t>
            </a:r>
          </a:p>
          <a:p>
            <a:pPr lvl="1"/>
            <a:r>
              <a:rPr lang="hu-HU" dirty="0"/>
              <a:t>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D505-C77A-3697-A926-4FDA6C78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F55054-6EE2-F770-6B80-2C7A629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533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25F4D4-ED51-2820-49AF-F3EC1E6A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futásideje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0C8C3-871B-8446-5A95-F46A7124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F7F41-D779-A547-A1A3-0928E654DA43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69A216-EF38-C2EE-C5A0-862D630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11</a:t>
            </a:fld>
            <a:r>
              <a:rPr lang="hu-HU" dirty="0"/>
              <a:t>/14</a:t>
            </a:r>
          </a:p>
        </p:txBody>
      </p:sp>
      <p:pic>
        <p:nvPicPr>
          <p:cNvPr id="10" name="Kép 9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F90238C6-3369-2A7B-4C4A-09ECE2E58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9" y="1241788"/>
            <a:ext cx="10751362" cy="4374424"/>
          </a:xfrm>
          <a:prstGeom prst="rect">
            <a:avLst/>
          </a:prstGeom>
        </p:spPr>
      </p:pic>
      <p:pic>
        <p:nvPicPr>
          <p:cNvPr id="12" name="Kép 11" descr="A képen sor, szöveg, Diagram, diagram látható&#10;&#10;Automatikusan generált leírás">
            <a:extLst>
              <a:ext uri="{FF2B5EF4-FFF2-40B4-BE49-F238E27FC236}">
                <a16:creationId xmlns:a16="http://schemas.microsoft.com/office/drawing/2014/main" id="{68AC365F-1BC6-B611-239D-C1867D814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9" y="1250302"/>
            <a:ext cx="10751362" cy="437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8C4855-CAF2-5DD9-532A-7A0D8804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538570-B920-9406-9988-BB1C0443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Kiértékelés menete:</a:t>
            </a:r>
          </a:p>
          <a:p>
            <a:pPr lvl="1"/>
            <a:r>
              <a:rPr lang="hu-HU" dirty="0"/>
              <a:t>Szintetikus adathalmaz:</a:t>
            </a:r>
          </a:p>
          <a:p>
            <a:pPr lvl="2"/>
            <a:r>
              <a:rPr lang="hu-HU" dirty="0"/>
              <a:t>500 dimenziós vektorok</a:t>
            </a:r>
          </a:p>
          <a:p>
            <a:pPr lvl="2"/>
            <a:r>
              <a:rPr lang="hu-HU" dirty="0"/>
              <a:t>10.000 adatpont</a:t>
            </a:r>
          </a:p>
          <a:p>
            <a:pPr lvl="2"/>
            <a:r>
              <a:rPr lang="hu-HU" dirty="0"/>
              <a:t>200, 300, 400, 500, 800 klaszter</a:t>
            </a:r>
          </a:p>
          <a:p>
            <a:pPr lvl="2"/>
            <a:r>
              <a:rPr lang="hu-HU" dirty="0"/>
              <a:t>Minden klaszterszámra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= 2,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4, 6, 8 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és 10 szórással</a:t>
            </a:r>
          </a:p>
          <a:p>
            <a:pPr lvl="2"/>
            <a:r>
              <a:rPr lang="hu-HU" dirty="0">
                <a:solidFill>
                  <a:srgbClr val="000000"/>
                </a:solidFill>
                <a:latin typeface="Times New Roman" panose="02020603050405020304" pitchFamily="18" charset="0"/>
              </a:rPr>
              <a:t>Inicializálás 1.000 adatponton</a:t>
            </a:r>
            <a:endParaRPr lang="hu-HU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lvl="2"/>
            <a:endParaRPr lang="hu-HU" dirty="0"/>
          </a:p>
          <a:p>
            <a:pPr lvl="2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B084F8-7887-3ADC-D4D8-A2642514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49B74D0-CF8E-A658-AA33-4DF54D9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522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C9B2F7-33BF-5C12-61DB-2CD68A81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38CB8B-7386-89C9-3034-99523D92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9F031-1307-194F-983A-F3429BE6CD69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09457-CD5D-D0C2-3D41-F3729923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13</a:t>
            </a:fld>
            <a:r>
              <a:rPr lang="hu-HU" dirty="0"/>
              <a:t>/14</a:t>
            </a:r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5F12DD7E-7C79-6A85-74B8-A3082BAE0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65" y="1455477"/>
            <a:ext cx="9134669" cy="4679006"/>
          </a:xfrm>
        </p:spPr>
      </p:pic>
    </p:spTree>
    <p:extLst>
      <p:ext uri="{BB962C8B-B14F-4D97-AF65-F5344CB8AC3E}">
        <p14:creationId xmlns:p14="http://schemas.microsoft.com/office/powerpoint/2010/main" val="29053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C46A4-6D8D-D412-17FC-B03442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eredményei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9235CC-06AC-C5E8-688B-C1936A5D3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Kiértékelés menete:</a:t>
            </a:r>
          </a:p>
          <a:p>
            <a:pPr lvl="1"/>
            <a:r>
              <a:rPr lang="hu-HU" dirty="0"/>
              <a:t>Cél: Minden </a:t>
            </a:r>
            <a:r>
              <a:rPr lang="hu-HU" dirty="0" err="1"/>
              <a:t>query-hez</a:t>
            </a:r>
            <a:r>
              <a:rPr lang="hu-HU" dirty="0"/>
              <a:t> (87.599) megtalálni a legrelevánsabb </a:t>
            </a:r>
            <a:r>
              <a:rPr lang="hu-HU" dirty="0" err="1"/>
              <a:t>embedding</a:t>
            </a:r>
            <a:r>
              <a:rPr lang="hu-HU" dirty="0"/>
              <a:t> vektort.</a:t>
            </a:r>
          </a:p>
          <a:p>
            <a:pPr lvl="1"/>
            <a:r>
              <a:rPr lang="hu-HU" dirty="0"/>
              <a:t>Kérdések 15%-ára nincs válasz.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F0211-477B-15E0-2EBF-2A47A20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189B6E-7E3F-3280-6C58-EF7283E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458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9D9E66-EAAD-305B-FE2A-DC7CD47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eredményei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3B992D-1AB5-B0AB-3BB0-71AD28F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9548-D724-1F48-B49D-E29266C4BD81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1768A6-17E9-2E12-197F-2D3C959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15</a:t>
            </a:fld>
            <a:r>
              <a:rPr lang="hu-HU"/>
              <a:t>/14</a:t>
            </a:r>
            <a:endParaRPr lang="hu-HU" dirty="0"/>
          </a:p>
        </p:txBody>
      </p:sp>
      <p:pic>
        <p:nvPicPr>
          <p:cNvPr id="13" name="Tartalom helye 12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F25E98A0-C7E0-6A89-57CF-A916F2E38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21" y="1676350"/>
            <a:ext cx="11296557" cy="4680000"/>
          </a:xfrm>
        </p:spPr>
      </p:pic>
      <p:pic>
        <p:nvPicPr>
          <p:cNvPr id="16" name="Kép 15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4D3C8CA0-7AB4-A3A2-A64C-2B4A94C2B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25" y="1690688"/>
            <a:ext cx="1129655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AF592-6D95-A38C-AFF9-3B09227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visszakeresési ideje</a:t>
            </a:r>
            <a:endParaRPr lang="hu-HU" dirty="0"/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46DB39A6-DB0D-DE97-078A-A43CA47E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2" y="1584615"/>
            <a:ext cx="11365536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5BA1C54-996A-D494-3068-DCB2592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8897DA-452A-EDD9-7DE7-3BE7261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852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C3197A-80D4-A704-6EA0-F8FFC373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változó dokumentum halmazzal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1DF59D-CAA9-F2E5-6393-4220ED32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600EDC-9C01-C620-C471-730F3E6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17</a:t>
            </a:fld>
            <a:r>
              <a:rPr lang="hu-HU" dirty="0"/>
              <a:t>/14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7A0D2D-9C09-8E77-2B9B-FAA7BB687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Kiértékelés menete: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vektor, 87.599 </a:t>
            </a:r>
            <a:r>
              <a:rPr lang="hu-HU" dirty="0" err="1"/>
              <a:t>query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Inicializálás </a:t>
            </a:r>
            <a:r>
              <a:rPr lang="hu-HU" dirty="0" err="1"/>
              <a:t>embeddingek</a:t>
            </a:r>
            <a:r>
              <a:rPr lang="hu-HU" dirty="0"/>
              <a:t> 50%-án.</a:t>
            </a:r>
          </a:p>
          <a:p>
            <a:pPr lvl="1"/>
            <a:r>
              <a:rPr lang="hu-HU" dirty="0"/>
              <a:t>Új adatok 2.000-es batch-</a:t>
            </a:r>
            <a:r>
              <a:rPr lang="hu-HU" dirty="0" err="1"/>
              <a:t>ekben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Vizsgált 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2"/>
            <a:r>
              <a:rPr lang="hu-HU" dirty="0"/>
              <a:t>FAISS (HNSW)</a:t>
            </a:r>
          </a:p>
        </p:txBody>
      </p:sp>
    </p:spTree>
    <p:extLst>
      <p:ext uri="{BB962C8B-B14F-4D97-AF65-F5344CB8AC3E}">
        <p14:creationId xmlns:p14="http://schemas.microsoft.com/office/powerpoint/2010/main" val="127968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ED8F0-B3A5-60F7-E321-B144BD4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változó dokumentum halmazzal</a:t>
            </a:r>
            <a:endParaRPr lang="hu-HU"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814D4FF-37CA-07CC-4917-A39068E7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75C52C96-71A3-7B11-9A08-97D6BE64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0EFBDA3-F08B-8523-65E6-5283DDC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18</a:t>
            </a:fld>
            <a:endParaRPr lang="hu-HU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296B4B3-EF9B-7160-D129-A1B840E03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C004D-1D65-EB37-2448-8EE4997B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változó dokumentum halmazzal</a:t>
            </a:r>
            <a:endParaRPr lang="hu-HU" dirty="0"/>
          </a:p>
        </p:txBody>
      </p:sp>
      <p:pic>
        <p:nvPicPr>
          <p:cNvPr id="7" name="Tartalom helye 6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09BA973A-3273-5842-7415-0A51D97B1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58" y="1552193"/>
            <a:ext cx="8647483" cy="4804157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18FBCE9-D862-C9E2-701F-A747EB89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97F88-25D7-7E4E-91DA-57125152F457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3732086-E6AD-86B0-13EA-3E994DC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19</a:t>
            </a:fld>
            <a:endParaRPr lang="hu-HU"/>
          </a:p>
        </p:txBody>
      </p:sp>
      <p:pic>
        <p:nvPicPr>
          <p:cNvPr id="9" name="Kép 8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D65EAF16-EDB2-9027-5E8C-1AF7E7707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41" y="1557316"/>
            <a:ext cx="8650800" cy="48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9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76977C-6CB9-779E-8D6F-49F6DE24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További haladás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40ABDB-9970-C351-2826-969E942BF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Átfogó kiértékelése a két megközelítésnek: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200" dirty="0" err="1"/>
              <a:t>Centroidok</a:t>
            </a:r>
            <a:r>
              <a:rPr lang="hu-HU" sz="2200" dirty="0"/>
              <a:t> hasonlítása majd legjobb klaszterekben keresés </a:t>
            </a:r>
            <a:r>
              <a:rPr lang="hu-HU" sz="2200" dirty="0" err="1"/>
              <a:t>vs</a:t>
            </a:r>
            <a:r>
              <a:rPr lang="hu-HU" sz="2200" dirty="0"/>
              <a:t>. Összes </a:t>
            </a:r>
            <a:r>
              <a:rPr lang="hu-HU" sz="2200" dirty="0" err="1"/>
              <a:t>embedding-gel</a:t>
            </a:r>
            <a:r>
              <a:rPr lang="hu-HU" sz="2200" dirty="0"/>
              <a:t> számolni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200" dirty="0"/>
              <a:t>Dinamikusan változó dokumentumtér vizsgálata online </a:t>
            </a:r>
            <a:r>
              <a:rPr lang="hu-HU" sz="2200" dirty="0" err="1"/>
              <a:t>klaszterezéssel</a:t>
            </a:r>
            <a:endParaRPr lang="hu-HU" sz="2200" dirty="0"/>
          </a:p>
          <a:p>
            <a:pPr marL="1371600" lvl="2" indent="-457200">
              <a:buFont typeface="+mj-lt"/>
              <a:buAutoNum type="arabicPeriod"/>
            </a:pP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F55404-988E-AC28-7C28-91900897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6BDB9A-E5F6-D843-9EFC-7C31F2021ACF}" type="datetime1">
              <a:rPr lang="hu-HU" smtClean="0"/>
              <a:pPr>
                <a:spcAft>
                  <a:spcPts val="600"/>
                </a:spcAft>
              </a:pPr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2456EEB-17BA-B0B0-C488-EDBB2719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20</a:t>
            </a:fld>
            <a:r>
              <a:rPr lang="hu-HU" dirty="0"/>
              <a:t>/14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5406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36B3B0-4171-B5F7-E6F0-D915C7616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hu-HU" sz="6600" b="1" dirty="0"/>
              <a:t>Köszönöm szépen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6B977B9-1CBB-E874-326C-FA40AFC6D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endParaRPr lang="hu-HU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2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242FBB-2962-2D0C-F440-AE52FF32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8F6325-171C-9526-86E2-566A20E5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[1] </a:t>
            </a:r>
            <a:r>
              <a:rPr lang="hu-HU" sz="1800" dirty="0" err="1"/>
              <a:t>Hariom</a:t>
            </a:r>
            <a:r>
              <a:rPr lang="hu-HU" sz="1800" dirty="0"/>
              <a:t> </a:t>
            </a:r>
            <a:r>
              <a:rPr lang="hu-HU" sz="1800" dirty="0" err="1"/>
              <a:t>Gautam</a:t>
            </a:r>
            <a:r>
              <a:rPr lang="hu-HU" sz="1800" dirty="0"/>
              <a:t>, (2020.03.01.), Word </a:t>
            </a:r>
            <a:r>
              <a:rPr lang="hu-HU" sz="1800" dirty="0" err="1"/>
              <a:t>Embedding</a:t>
            </a:r>
            <a:r>
              <a:rPr lang="hu-HU" sz="1800" dirty="0"/>
              <a:t>: </a:t>
            </a:r>
            <a:r>
              <a:rPr lang="hu-HU" sz="1800" dirty="0" err="1"/>
              <a:t>Basics</a:t>
            </a:r>
            <a:r>
              <a:rPr lang="hu-HU" sz="1800" dirty="0"/>
              <a:t>, </a:t>
            </a:r>
            <a:r>
              <a:rPr lang="hu-HU" sz="1800" dirty="0" err="1"/>
              <a:t>Medium</a:t>
            </a:r>
            <a:r>
              <a:rPr lang="hu-HU" sz="1800" dirty="0"/>
              <a:t>, </a:t>
            </a:r>
            <a:r>
              <a:rPr lang="hu-HU" sz="1800" dirty="0">
                <a:hlinkClick r:id="rId2"/>
              </a:rPr>
              <a:t>https://medium.com/@hari4om/word-embedding-d816f643140</a:t>
            </a:r>
            <a:endParaRPr lang="hu-HU" sz="1800" dirty="0"/>
          </a:p>
          <a:p>
            <a:r>
              <a:rPr lang="hu-HU" sz="1800" dirty="0"/>
              <a:t>[2] </a:t>
            </a:r>
            <a:r>
              <a:rPr lang="hu-HU" sz="1800" u="sng" dirty="0" err="1"/>
              <a:t>Varun</a:t>
            </a:r>
            <a:r>
              <a:rPr lang="hu-HU" sz="1800" u="sng" dirty="0"/>
              <a:t>, </a:t>
            </a:r>
            <a:r>
              <a:rPr lang="hu-HU" sz="1800" dirty="0"/>
              <a:t>(2020.09.27.), </a:t>
            </a:r>
            <a:r>
              <a:rPr lang="hu-HU" sz="1800" dirty="0" err="1"/>
              <a:t>Cosine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: </a:t>
            </a:r>
            <a:r>
              <a:rPr lang="hu-HU" sz="1800" dirty="0" err="1"/>
              <a:t>How</a:t>
            </a:r>
            <a:r>
              <a:rPr lang="hu-HU" sz="1800" dirty="0"/>
              <a:t> </a:t>
            </a:r>
            <a:r>
              <a:rPr lang="hu-HU" sz="1800" dirty="0" err="1"/>
              <a:t>does</a:t>
            </a:r>
            <a:r>
              <a:rPr lang="hu-HU" sz="1800" dirty="0"/>
              <a:t> </a:t>
            </a:r>
            <a:r>
              <a:rPr lang="hu-HU" sz="1800" dirty="0" err="1"/>
              <a:t>it</a:t>
            </a:r>
            <a:r>
              <a:rPr lang="hu-HU" sz="1800" dirty="0"/>
              <a:t> </a:t>
            </a:r>
            <a:r>
              <a:rPr lang="hu-HU" sz="1800" dirty="0" err="1"/>
              <a:t>measure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, </a:t>
            </a:r>
            <a:r>
              <a:rPr lang="hu-HU" sz="1800" dirty="0" err="1"/>
              <a:t>Maths</a:t>
            </a:r>
            <a:r>
              <a:rPr lang="hu-HU" sz="1800" dirty="0"/>
              <a:t> </a:t>
            </a:r>
            <a:r>
              <a:rPr lang="hu-HU" sz="1800" dirty="0" err="1"/>
              <a:t>behind</a:t>
            </a:r>
            <a:r>
              <a:rPr lang="hu-HU" sz="1800" dirty="0"/>
              <a:t> and </a:t>
            </a:r>
            <a:r>
              <a:rPr lang="hu-HU" sz="1800" dirty="0" err="1"/>
              <a:t>usage</a:t>
            </a:r>
            <a:r>
              <a:rPr lang="hu-HU" sz="1800" dirty="0"/>
              <a:t> in Python, towardsdatascience.com ,</a:t>
            </a:r>
            <a:r>
              <a:rPr lang="hu-HU" sz="1800" u="sng" dirty="0">
                <a:hlinkClick r:id="rId3"/>
              </a:rPr>
              <a:t>https://towardsdatascience.com/cosine-similarity-how-does-it-measure-the-similarity-maths-behind-and-usage-in-python-50ad30aad7db/</a:t>
            </a:r>
            <a:endParaRPr lang="hu-HU" sz="1800" dirty="0"/>
          </a:p>
          <a:p>
            <a:endParaRPr lang="hu-HU" sz="20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AFDC56-C173-DBE4-4AB5-B1829C2C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F3F-A62C-A143-BDC3-1E7D9C7303DA}" type="datetime1">
              <a:rPr lang="hu-HU" smtClean="0"/>
              <a:t>2025. 11. 06.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737DFA-5AEE-8E85-0BBC-53632C2E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22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1509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425</Words>
  <Application>Microsoft Macintosh PowerPoint</Application>
  <PresentationFormat>Szélesvásznú</PresentationFormat>
  <Paragraphs>127</Paragraphs>
  <Slides>22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Office-téma</vt:lpstr>
      <vt:lpstr>Klaszterezési stratégiák alkalmazása RAG rendszerek hatékonyságának növelésére</vt:lpstr>
      <vt:lpstr>Retrieval Augmented Generation</vt:lpstr>
      <vt:lpstr>Adat előfeldolgozás</vt:lpstr>
      <vt:lpstr>Szövegbeágyazás</vt:lpstr>
      <vt:lpstr>Hasonlóságmérési technikák</vt:lpstr>
      <vt:lpstr>Javasolt RAG-folyamat</vt:lpstr>
      <vt:lpstr>Klaszterezési módszerek a pipeline-ban</vt:lpstr>
      <vt:lpstr>Dinamikusan változó dokumentumtér kezelése</vt:lpstr>
      <vt:lpstr>Online KMeans algoritmusom</vt:lpstr>
      <vt:lpstr>Klaszterezési algoritmusok futásideje</vt:lpstr>
      <vt:lpstr>Klaszterezési algoritmusok futásideje</vt:lpstr>
      <vt:lpstr>Klaszterezési algoritmusok pontossága</vt:lpstr>
      <vt:lpstr>Klaszterezési algoritmusok pontossága</vt:lpstr>
      <vt:lpstr>Klaszterezést használó retrieval pipeline eredményei</vt:lpstr>
      <vt:lpstr>Klaszterezést használó retrieval pipeline eredményei</vt:lpstr>
      <vt:lpstr>Klaszterezést használó retrieval pipeline visszakeresési ideje</vt:lpstr>
      <vt:lpstr>Retrieval pipeline változó dokumentum halmazzal</vt:lpstr>
      <vt:lpstr>Retrieval pipeline változó dokumentum halmazzal</vt:lpstr>
      <vt:lpstr>Retrieval pipeline változó dokumentum halmazzal</vt:lpstr>
      <vt:lpstr>További haladás</vt:lpstr>
      <vt:lpstr>Köszönöm szépen a figyelmet!</vt:lpstr>
      <vt:lpstr>Forrásjegyzék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Czotter Benedek (ME/ECO1-HU)</dc:creator>
  <cp:lastModifiedBy>Benedek Czotter</cp:lastModifiedBy>
  <cp:revision>110</cp:revision>
  <dcterms:created xsi:type="dcterms:W3CDTF">2025-10-16T06:59:48Z</dcterms:created>
  <dcterms:modified xsi:type="dcterms:W3CDTF">2025-11-06T21:21:16Z</dcterms:modified>
</cp:coreProperties>
</file>