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3" r:id="rId6"/>
    <p:sldId id="261" r:id="rId7"/>
    <p:sldId id="262" r:id="rId8"/>
    <p:sldId id="264" r:id="rId9"/>
    <p:sldId id="271" r:id="rId10"/>
    <p:sldId id="265" r:id="rId11"/>
    <p:sldId id="266" r:id="rId12"/>
    <p:sldId id="267" r:id="rId13"/>
    <p:sldId id="272" r:id="rId14"/>
    <p:sldId id="270" r:id="rId15"/>
    <p:sldId id="269" r:id="rId16"/>
    <p:sldId id="268" r:id="rId17"/>
    <p:sldId id="260" r:id="rId1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00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7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5BC8E-5813-4F4E-B35B-0E3B0D0BF7D5}" type="datetimeFigureOut">
              <a:rPr lang="hu-HU" smtClean="0"/>
              <a:t>2025. 11. 05.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BF544B-8942-4253-A6F4-42DBF943B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000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44DB2B-8DEF-2080-F11C-465FD4342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00135B9-F6BB-323C-16DB-A499A7DC80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0EC609-60CE-4350-E413-7FDC500D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71CAD-6F13-184D-A3E8-750FE35B9EBC}" type="datetime1">
              <a:rPr lang="hu-HU" smtClean="0"/>
              <a:t>2025. 11. 05.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DD0B685-2D51-EC98-5512-ADA60579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718B57-9AD5-F8B1-7D62-6C17616A9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0109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CF2C6-9A46-26C0-C82F-1AA66FB0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B08F35-F4ED-DD84-DB4B-08C7B091F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09BC9F9-FE85-CD53-532C-2AC7ABE74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97F88-25D7-7E4E-91DA-57125152F457}" type="datetime1">
              <a:rPr lang="hu-HU" smtClean="0"/>
              <a:t>2025. 11. 05.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95E67FB-FBFF-CF0C-CD26-080878004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81F5668-D494-D40D-4572-EBD0DE2C6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984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D7D912-7FB2-707D-4A95-BE6D91863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2A09965-A8C0-57B4-EA3E-9D8BEE51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8DCE928-BAB9-6766-9725-B5C561871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9243F7-EB01-1C49-8DF4-B5E7D3EDCB05}" type="datetime1">
              <a:rPr lang="hu-HU" smtClean="0"/>
              <a:t>2025. 11. 05.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F8346E-83CB-DFF1-BE9F-EA269F6A2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B3C63F5-010B-97CF-A6DB-D9CE184B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4491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4EC0E3-0F3D-C52A-737C-3F0EAE17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3E74A1-A246-260F-3BB3-CC63041E27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C7370C1-A55B-4347-9AFF-FBB7C7DB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FB944EE-1BCA-4350-F5E3-E74400E5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A0E93-9A86-7044-A356-C546BEFBED63}" type="datetime1">
              <a:rPr lang="hu-HU" smtClean="0"/>
              <a:t>2025. 11. 05.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DD111C8-FFDD-AD48-1F1C-C1D5E0319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95E365C-7E1D-964A-F5BD-242E24CAE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309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CDD2C5-25D5-03F8-F0B5-2D8345171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8D00EE9-0968-8C1C-9DFE-FCCAFA35E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DC6633E-DB2F-4E35-6FF5-E9871528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DD64006-2C03-7143-B016-A2F4F3E2E0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049EE41-4C75-3885-16E2-420BF437B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F8C02EA-55F4-5050-B8CD-28A0797DC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44146-0A6C-8F43-AB21-D823E7CB24D4}" type="datetime1">
              <a:rPr lang="hu-HU" smtClean="0"/>
              <a:t>2025. 11. 05.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DEA56DC6-3AEF-250F-41B9-259623F4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A687F30-7E14-114B-C70F-CF485CB6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3393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34E4A-294A-C3DC-A26B-804DA6713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109F264-4028-4C48-80B8-2CE954E56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3C242-AF4E-0F4E-B1A5-0050A5B92112}" type="datetime1">
              <a:rPr lang="hu-HU" smtClean="0"/>
              <a:t>2025. 11. 05.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8EE7FD6-BE4D-B54F-C44C-B46ED0E9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5EB0A85-D335-E07A-B9FD-7762BEE79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5763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32B8FE99-87E4-CE9E-0204-2086B16A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D6928-E8BB-F645-9B89-505C65382616}" type="datetime1">
              <a:rPr lang="hu-HU" smtClean="0"/>
              <a:t>2025. 11. 05.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36B521C-2A39-F3BF-0344-69AF56617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3AC11E4-41B0-8958-838C-DB5DA76EA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307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BBEBCA-9137-494C-DE47-D6E4105C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851373-52A0-A154-6D22-0DF9BF2F2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B341CCE-5FBC-E08F-AC03-AB7651FF6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14EC641-5857-545B-2AE6-EB903C8C2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2935B-306A-AF4A-83C7-5ACF2C37EC40}" type="datetime1">
              <a:rPr lang="hu-HU" smtClean="0"/>
              <a:t>2025. 11. 05.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F0D02E3-A25F-EA0F-B7C0-03B5DE52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E99EED-022D-0343-CEFD-53F0984D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6406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BDE40E-CDF9-03AB-1881-714B792FC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28AD9E0-FC0E-1BDE-A150-484164A324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B01F831-4CD3-EB3C-BFEA-D38B52A3D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84EB230-CFD0-14C5-8666-82F98A3E6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3F5C2-BC5C-E946-BE19-5970FFE88346}" type="datetime1">
              <a:rPr lang="hu-HU" smtClean="0"/>
              <a:t>2025. 11. 05.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6E63473-501A-4B53-ED84-EF200213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E35C4E8-A16D-C025-3ADF-18E56759D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9153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80F146-820D-3614-D4B6-AA5EC5D2B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9F19BF5-021D-31DB-E02E-E6C8F7FD6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5EA86F-CAF9-4C40-D15F-19E89F13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747407-E380-7C4C-956A-D6E19B9BA48E}" type="datetime1">
              <a:rPr lang="hu-HU" smtClean="0"/>
              <a:t>2025. 11. 05.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A322BA5-50F8-4603-D4F8-DF474B31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137B239-93B1-F8A2-F7FE-B9A1399F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6108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01E548B-19CA-9464-3B87-0BC2A3039C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F5D9155-C809-5256-8273-A47769230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8946F68-DFF0-22FD-5981-51D527B8D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A1641-DB98-1945-938C-2D56ADE4DCEF}" type="datetime1">
              <a:rPr lang="hu-HU" smtClean="0"/>
              <a:t>2025. 11. 05.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56CBAED-2D0B-C1A8-24B8-6EA4F1294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F7CBFF9-FC11-30AE-A40E-6458F24B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874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8F09FF2-7741-43DF-79AA-10D5CB268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2FFF5B2-37C4-8C87-5666-64A079D6A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E98144B-91D0-2412-B4E5-5993F321C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EA9AB3-3E45-1F4D-91EA-19B6CDD7EF89}" type="datetime1">
              <a:rPr lang="hu-HU" smtClean="0"/>
              <a:t>2025. 11. 05.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76A45CC-E416-D676-0924-83E1F878D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5725B3B-ADD0-88C9-63BF-F659E0CE6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8C5385-442F-994D-B617-1C3CED302E24}" type="slidenum">
              <a:rPr lang="hu-HU" smtClean="0"/>
              <a:pPr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46690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cosine-similarity-how-does-it-measure-the-similarity-maths-behind-and-usage-in-python-50ad30aad7db/" TargetMode="External"/><Relationship Id="rId2" Type="http://schemas.openxmlformats.org/officeDocument/2006/relationships/hyperlink" Target="https://medium.com/@hari4om/word-embedding-d816f643140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8C7F701-9F55-4F13-1103-DD725E1592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hu-HU" sz="4800" b="1" dirty="0" err="1">
                <a:solidFill>
                  <a:srgbClr val="000000"/>
                </a:solidFill>
                <a:effectLst/>
                <a:latin typeface="+mn-lt"/>
              </a:rPr>
              <a:t>Klaszterezési</a:t>
            </a: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 stratégiák alkalmazása RAG rendszerek</a:t>
            </a:r>
            <a:b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</a:b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hatékonyságának növelésére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DD226D7-1AA8-F259-77E0-A48544EC3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0924" y="4725987"/>
            <a:ext cx="3946779" cy="1038225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Készítette: Czotter Benedek</a:t>
            </a:r>
          </a:p>
          <a:p>
            <a:pPr algn="l"/>
            <a:r>
              <a:rPr lang="hu-HU" dirty="0"/>
              <a:t>Konzulens: Dr. Szűcs Gábor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7058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76A5C5B-9E91-0643-44A3-847AC216A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Retrieval Augmented Generation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6484474F-5500-8FDB-CF4B-D9EE49C3C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5A438-3713-F446-BD7A-55D18856C613}" type="datetime1">
              <a:rPr lang="hu-HU" smtClean="0"/>
              <a:t>2025. 11. 05.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5212F9E-E412-BF89-1EF4-37D10781E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</a:t>
            </a:fld>
            <a:r>
              <a:rPr lang="hu-HU" dirty="0"/>
              <a:t>/14</a:t>
            </a:r>
          </a:p>
        </p:txBody>
      </p:sp>
      <p:pic>
        <p:nvPicPr>
          <p:cNvPr id="14" name="Tartalom helye 13" descr="A képen képernyőkép, diagram, tervezés látható&#10;&#10;Automatikusan generált leírás">
            <a:extLst>
              <a:ext uri="{FF2B5EF4-FFF2-40B4-BE49-F238E27FC236}">
                <a16:creationId xmlns:a16="http://schemas.microsoft.com/office/drawing/2014/main" id="{39C365F9-1952-04F6-0DD6-246F05AEF7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175" y="2297565"/>
            <a:ext cx="11787051" cy="3428190"/>
          </a:xfrm>
        </p:spPr>
      </p:pic>
    </p:spTree>
    <p:extLst>
      <p:ext uri="{BB962C8B-B14F-4D97-AF65-F5344CB8AC3E}">
        <p14:creationId xmlns:p14="http://schemas.microsoft.com/office/powerpoint/2010/main" val="2090047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A085D84-3FE9-0FAB-EC09-3D2AE409C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Adat előfeldolgozás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736D4E-16AE-FBE8-78A6-2BC51FE73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Adathalmaz: </a:t>
            </a:r>
            <a:r>
              <a:rPr lang="hu-HU" sz="2200" dirty="0" err="1"/>
              <a:t>SQuAD</a:t>
            </a:r>
            <a:r>
              <a:rPr lang="hu-HU" sz="2200" dirty="0"/>
              <a:t> (Stanford </a:t>
            </a:r>
            <a:r>
              <a:rPr lang="hu-HU" sz="2200" dirty="0" err="1"/>
              <a:t>Question</a:t>
            </a:r>
            <a:r>
              <a:rPr lang="hu-HU" sz="2200" dirty="0"/>
              <a:t> </a:t>
            </a:r>
            <a:r>
              <a:rPr lang="hu-HU" sz="2200" dirty="0" err="1"/>
              <a:t>Answering</a:t>
            </a:r>
            <a:r>
              <a:rPr lang="hu-HU" sz="2200" dirty="0"/>
              <a:t> </a:t>
            </a:r>
            <a:r>
              <a:rPr lang="hu-HU" sz="2200" dirty="0" err="1"/>
              <a:t>Dataset</a:t>
            </a:r>
            <a:r>
              <a:rPr lang="hu-HU" sz="2200" dirty="0"/>
              <a:t>)</a:t>
            </a:r>
          </a:p>
          <a:p>
            <a:r>
              <a:rPr lang="hu-HU" sz="2200" dirty="0"/>
              <a:t>Lépések:</a:t>
            </a:r>
          </a:p>
          <a:p>
            <a:pPr lvl="1"/>
            <a:r>
              <a:rPr lang="hu-HU" sz="2200" dirty="0"/>
              <a:t>Szövegtisztítás</a:t>
            </a:r>
            <a:endParaRPr lang="hu-HU" sz="1800" dirty="0"/>
          </a:p>
          <a:p>
            <a:pPr lvl="1"/>
            <a:r>
              <a:rPr lang="hu-HU" sz="1800" dirty="0" err="1"/>
              <a:t>Semantic</a:t>
            </a:r>
            <a:r>
              <a:rPr lang="hu-HU" sz="1800" dirty="0"/>
              <a:t> </a:t>
            </a:r>
            <a:r>
              <a:rPr lang="hu-HU" sz="1800" dirty="0" err="1"/>
              <a:t>Chunking</a:t>
            </a:r>
            <a:endParaRPr lang="hu-HU" sz="22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0D33E1A-9F78-8DDB-E533-F6F10450B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8DC56D-A89B-7A46-BB67-D506DBA2B2C4}" type="datetime1">
              <a:rPr lang="hu-HU" smtClean="0"/>
              <a:t>2025. 11. 05.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4E7E744-A3B0-E6B0-D52B-2E63E6FD0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3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240746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0A4660E-4A32-038B-AF65-015EA7CC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Szövegbeágyazás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C052BD-6EB2-AAA0-16FF-931515F30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hu-HU" sz="2200" dirty="0" err="1"/>
              <a:t>Sentence</a:t>
            </a:r>
            <a:r>
              <a:rPr lang="hu-HU" sz="2200" dirty="0"/>
              <a:t> Transformers</a:t>
            </a:r>
          </a:p>
          <a:p>
            <a:pPr lvl="1"/>
            <a:r>
              <a:rPr lang="hu-HU" sz="2200" dirty="0"/>
              <a:t>all-MiniLM-L6-v2 (384 </a:t>
            </a:r>
            <a:r>
              <a:rPr lang="hu-HU" sz="2200" dirty="0" err="1"/>
              <a:t>Dim</a:t>
            </a:r>
            <a:r>
              <a:rPr lang="hu-HU" sz="2200" dirty="0"/>
              <a:t>)</a:t>
            </a:r>
          </a:p>
          <a:p>
            <a:pPr lvl="1"/>
            <a:r>
              <a:rPr lang="hu-HU" sz="2200" dirty="0" err="1"/>
              <a:t>Snowflake's</a:t>
            </a:r>
            <a:r>
              <a:rPr lang="hu-HU" sz="2200" dirty="0"/>
              <a:t> Arctic-embed-l-v2.0</a:t>
            </a:r>
            <a:br>
              <a:rPr lang="hu-HU" sz="2200" dirty="0"/>
            </a:br>
            <a:r>
              <a:rPr lang="hu-HU" dirty="0"/>
              <a:t>(1024 </a:t>
            </a:r>
            <a:r>
              <a:rPr lang="hu-HU" dirty="0" err="1"/>
              <a:t>Dim</a:t>
            </a:r>
            <a:r>
              <a:rPr lang="hu-HU" dirty="0"/>
              <a:t>)</a:t>
            </a:r>
            <a:endParaRPr lang="hu-HU" sz="2200" dirty="0"/>
          </a:p>
          <a:p>
            <a:endParaRPr lang="hu-HU" sz="2200" dirty="0"/>
          </a:p>
          <a:p>
            <a:endParaRPr lang="hu-HU" sz="22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38C620-5264-DB09-4CF1-E8C34315CE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388711"/>
            <a:ext cx="5458968" cy="4080577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5FC17286-E09C-988D-7A3E-A6EA492C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CB8C-8A8C-8F41-B579-E127A30BCC8D}" type="datetime1">
              <a:rPr lang="hu-HU" smtClean="0"/>
              <a:t>2025. 11. 05.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C011C3C-48AD-743A-BE84-CF8CD44B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1F88ADF-3301-4598-B089-C6A4CC92BE83}" type="slidenum">
              <a:rPr lang="hu-HU" smtClean="0"/>
              <a:t>4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242987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9F3E87-EBE0-66DC-D57E-421234F3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Hasonlóság mérési technikák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D3208-6822-370E-384A-EFB65A7D6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Koszinusz hasonlóság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marL="457200" lvl="1" indent="0">
              <a:buNone/>
            </a:pPr>
            <a:endParaRPr lang="hu-HU" dirty="0"/>
          </a:p>
          <a:p>
            <a:r>
              <a:rPr lang="hu-HU" dirty="0"/>
              <a:t>Euklideszi távolság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 descr="A képen Betűtípus, szöveg, fehér, diagram látható&#10;&#10;Automatikusan generált leírás">
            <a:extLst>
              <a:ext uri="{FF2B5EF4-FFF2-40B4-BE49-F238E27FC236}">
                <a16:creationId xmlns:a16="http://schemas.microsoft.com/office/drawing/2014/main" id="{0B81ECA3-4102-FB78-48FC-AFD4041D17D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9" y="2352457"/>
            <a:ext cx="3451902" cy="123048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2E1FD49-5445-467A-8611-01B9A39D26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3298" y="4109778"/>
            <a:ext cx="2225404" cy="1106688"/>
          </a:xfrm>
          <a:prstGeom prst="rect">
            <a:avLst/>
          </a:prstGeom>
        </p:spPr>
      </p:pic>
      <p:sp>
        <p:nvSpPr>
          <p:cNvPr id="7" name="Dátum helye 6">
            <a:extLst>
              <a:ext uri="{FF2B5EF4-FFF2-40B4-BE49-F238E27FC236}">
                <a16:creationId xmlns:a16="http://schemas.microsoft.com/office/drawing/2014/main" id="{0C16F16A-0BC8-180B-88A1-FD1205240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8D167-9427-CA44-9384-E35089ED55DF}" type="datetime1">
              <a:rPr lang="hu-HU" smtClean="0"/>
              <a:t>2025. 11. 05.</a:t>
            </a:fld>
            <a:endParaRPr lang="hu-HU"/>
          </a:p>
        </p:txBody>
      </p:sp>
      <p:sp>
        <p:nvSpPr>
          <p:cNvPr id="8" name="Dia számának helye 7">
            <a:extLst>
              <a:ext uri="{FF2B5EF4-FFF2-40B4-BE49-F238E27FC236}">
                <a16:creationId xmlns:a16="http://schemas.microsoft.com/office/drawing/2014/main" id="{D8D7187B-3D5F-EB1E-39BB-72BB69B1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5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159275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57D935-F018-FC86-5390-C2B7453B3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Javasolt</a:t>
            </a:r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RAG-</a:t>
            </a:r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folyamat</a:t>
            </a:r>
            <a:endParaRPr lang="en-US" sz="6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A9ED6514-68CD-D91D-24B7-55E20E55B3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940" y="2218074"/>
            <a:ext cx="11945522" cy="4001751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755509C4-3B07-3F44-A1AF-BC312BDB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C410DB5E-A372-294A-ADC7-737DED99DBCB}" type="datetime1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11/5/25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31C41BA-0408-1C95-90B5-3A2002F2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r>
              <a:rPr lang="en-US">
                <a:solidFill>
                  <a:schemeClr val="tx1">
                    <a:tint val="75000"/>
                  </a:schemeClr>
                </a:solidFill>
              </a:rPr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382256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1989D33-1F34-EFC3-2811-8F78ED2B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4600" b="1"/>
              <a:t>Klaszterezési módszerek a pipeline-ban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932037-C5E5-5EDE-7C62-8003AA6F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b="1" dirty="0" err="1"/>
              <a:t>Alap</a:t>
            </a:r>
            <a:r>
              <a:rPr lang="en-US" sz="2400" b="1" dirty="0"/>
              <a:t>:</a:t>
            </a:r>
            <a:r>
              <a:rPr lang="en-US" sz="2400" dirty="0"/>
              <a:t> similarity search </a:t>
            </a:r>
            <a:r>
              <a:rPr lang="en-US" sz="2400" dirty="0" err="1"/>
              <a:t>minden</a:t>
            </a:r>
            <a:r>
              <a:rPr lang="en-US" sz="2400" dirty="0"/>
              <a:t> </a:t>
            </a:r>
            <a:r>
              <a:rPr lang="en-US" sz="2400" dirty="0" err="1"/>
              <a:t>embeddingen</a:t>
            </a:r>
            <a:endParaRPr lang="hu-HU" sz="2400" dirty="0"/>
          </a:p>
          <a:p>
            <a:r>
              <a:rPr lang="hu-HU" sz="2400" b="1" dirty="0"/>
              <a:t>Javasolt megközelítés: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Embeddingek</a:t>
            </a:r>
            <a:r>
              <a:rPr lang="hu-HU" dirty="0"/>
              <a:t> </a:t>
            </a:r>
            <a:r>
              <a:rPr lang="hu-HU" dirty="0" err="1"/>
              <a:t>klaszterezése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Similarity</a:t>
            </a:r>
            <a:r>
              <a:rPr lang="hu-HU" dirty="0"/>
              <a:t> </a:t>
            </a:r>
            <a:r>
              <a:rPr lang="hu-HU" dirty="0" err="1"/>
              <a:t>search</a:t>
            </a:r>
            <a:r>
              <a:rPr lang="hu-HU" dirty="0"/>
              <a:t> a </a:t>
            </a:r>
            <a:r>
              <a:rPr lang="hu-HU" dirty="0" err="1"/>
              <a:t>centroidokra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Keresés a legrelevánsabb klasztereken belül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Újonnan érkező dokumentumok integrálása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4F2DB9-72D6-5A2C-0BA0-9544D759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CB4A642-E289-D849-9780-C21666DBF77C}" type="datetime1">
              <a:rPr lang="hu-HU" smtClean="0"/>
              <a:t>2025. 11. 05.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548E5D5-F0E1-BE18-E9A2-172A965D4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7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999374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9670FB-06C8-7731-7B4D-6FB4E9286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Dinamikusan változó dokumentumtér kezelése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A83A24-EFD9-58C9-AA84-885E6938A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649726"/>
          </a:xfrm>
        </p:spPr>
        <p:txBody>
          <a:bodyPr>
            <a:normAutofit/>
          </a:bodyPr>
          <a:lstStyle/>
          <a:p>
            <a:r>
              <a:rPr lang="hu-HU" sz="1400" dirty="0"/>
              <a:t>Online </a:t>
            </a:r>
            <a:r>
              <a:rPr lang="hu-HU" sz="1400" dirty="0" err="1"/>
              <a:t>KMeans</a:t>
            </a:r>
            <a:endParaRPr lang="hu-HU" sz="1400" dirty="0"/>
          </a:p>
          <a:p>
            <a:pPr lvl="1"/>
            <a:r>
              <a:rPr lang="hu-HU" sz="1400" dirty="0" err="1"/>
              <a:t>KMeans</a:t>
            </a:r>
            <a:r>
              <a:rPr lang="hu-HU" sz="1400" dirty="0"/>
              <a:t>++ inicializálás</a:t>
            </a:r>
          </a:p>
          <a:p>
            <a:pPr lvl="1"/>
            <a:r>
              <a:rPr lang="hu-HU" sz="1400" dirty="0" err="1"/>
              <a:t>Centroidok</a:t>
            </a:r>
            <a:r>
              <a:rPr lang="hu-HU" sz="1400" dirty="0"/>
              <a:t> dinamikus frissítése:</a:t>
            </a:r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lvl="1"/>
            <a:r>
              <a:rPr lang="hu-HU" sz="1400" dirty="0"/>
              <a:t>Gyors, memória hatékony megközelítés:</a:t>
            </a:r>
          </a:p>
          <a:p>
            <a:pPr lvl="2"/>
            <a:r>
              <a:rPr lang="hu-HU" sz="1400" dirty="0"/>
              <a:t>Memóriában tárolt adatok:</a:t>
            </a:r>
          </a:p>
          <a:p>
            <a:pPr lvl="3"/>
            <a:r>
              <a:rPr lang="hu-HU" sz="1400" dirty="0"/>
              <a:t>Batch </a:t>
            </a:r>
            <a:r>
              <a:rPr lang="hu-HU" sz="1400" dirty="0" err="1"/>
              <a:t>embeddingek</a:t>
            </a:r>
            <a:endParaRPr lang="hu-HU" sz="1400" dirty="0"/>
          </a:p>
          <a:p>
            <a:pPr lvl="3"/>
            <a:r>
              <a:rPr lang="hu-HU" sz="1400" dirty="0"/>
              <a:t>Klaszterközéppontok tömbje</a:t>
            </a:r>
          </a:p>
          <a:p>
            <a:pPr lvl="3"/>
            <a:r>
              <a:rPr lang="hu-HU" sz="1400" dirty="0"/>
              <a:t>Egyes klaszterek elemszáma</a:t>
            </a:r>
          </a:p>
          <a:p>
            <a:pPr lvl="3"/>
            <a:r>
              <a:rPr lang="hu-HU" sz="1400" dirty="0"/>
              <a:t>Klaszterekhez tartozó pontok koordinátáinak összege</a:t>
            </a:r>
          </a:p>
          <a:p>
            <a:pPr lvl="3"/>
            <a:r>
              <a:rPr lang="hu-HU" sz="1400" dirty="0"/>
              <a:t>Klaszterekhez tartozó variancia értékek</a:t>
            </a:r>
          </a:p>
          <a:p>
            <a:pPr lvl="3"/>
            <a:r>
              <a:rPr lang="hu-HU" sz="1400" dirty="0"/>
              <a:t>Eddig feldolgozott adatpontok száma</a:t>
            </a:r>
          </a:p>
          <a:p>
            <a:pPr lvl="3"/>
            <a:endParaRPr lang="hu-HU" sz="1400" dirty="0"/>
          </a:p>
          <a:p>
            <a:pPr lvl="1"/>
            <a:endParaRPr lang="hu-HU" sz="1400" dirty="0"/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DA26DC97-398A-863A-3107-51A57D9EDD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8268" y="3509627"/>
            <a:ext cx="3138201" cy="627640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E745C1BA-EB1E-45BE-667D-E9C4B10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3B65CD1-5108-2149-AD8B-F412A6622A91}" type="datetime1">
              <a:rPr lang="hu-HU" smtClean="0"/>
              <a:t>2025. 11. 05.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30D9E1E-E844-A26C-DE5F-59457F1D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8</a:t>
            </a:fld>
            <a:r>
              <a:rPr lang="hu-HU" dirty="0"/>
              <a:t>/14</a:t>
            </a:r>
          </a:p>
        </p:txBody>
      </p:sp>
      <p:pic>
        <p:nvPicPr>
          <p:cNvPr id="8" name="Kép 7" descr="A képen szöveg, virág, képernyőkép látható&#10;&#10;Automatikusan generált leírás">
            <a:extLst>
              <a:ext uri="{FF2B5EF4-FFF2-40B4-BE49-F238E27FC236}">
                <a16:creationId xmlns:a16="http://schemas.microsoft.com/office/drawing/2014/main" id="{47A3CB95-E303-4CC1-F4D5-60EBAF4B28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533" y="1936713"/>
            <a:ext cx="5613795" cy="4478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612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4C5B991-DADF-8037-2F70-760F6DF25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Online </a:t>
            </a:r>
            <a:r>
              <a:rPr lang="hu-HU" b="1" dirty="0" err="1"/>
              <a:t>KMeans</a:t>
            </a:r>
            <a:r>
              <a:rPr lang="hu-HU" b="1" dirty="0"/>
              <a:t> algoritmusom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B4EA16-1807-1461-C3A0-9C7A7B680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97F88-25D7-7E4E-91DA-57125152F457}" type="datetime1">
              <a:rPr lang="hu-HU" smtClean="0"/>
              <a:t>2025. 11. 05.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584BDD-2D8D-647B-59AD-888BF154A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9</a:t>
            </a:fld>
            <a:endParaRPr lang="hu-HU"/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3C25C462-0493-14FC-7AFB-DF71D4745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6A99B93-22A6-9F32-8B40-D36FE50F54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90" y="1492664"/>
            <a:ext cx="10857410" cy="468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320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25F4D4-ED51-2820-49AF-F3EC1E6A2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177"/>
          </a:xfrm>
        </p:spPr>
        <p:txBody>
          <a:bodyPr/>
          <a:lstStyle/>
          <a:p>
            <a:r>
              <a:rPr lang="hu-HU" b="1"/>
              <a:t>Klaszterezési algoritmusok futásideje</a:t>
            </a:r>
            <a:endParaRPr lang="hu-HU" b="1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D0C8C3-871B-8446-5A95-F46A71244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F7F41-D779-A547-A1A3-0928E654DA43}" type="datetime1">
              <a:rPr lang="hu-HU" smtClean="0"/>
              <a:t>2025. 11. 05.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0869A216-EF38-C2EE-C5A0-862D630A8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10</a:t>
            </a:fld>
            <a:r>
              <a:rPr lang="hu-HU" dirty="0"/>
              <a:t>/14</a:t>
            </a:r>
          </a:p>
        </p:txBody>
      </p:sp>
      <p:pic>
        <p:nvPicPr>
          <p:cNvPr id="10" name="Kép 9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F90238C6-3369-2A7B-4C4A-09ECE2E584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19" y="1241788"/>
            <a:ext cx="10751362" cy="4374424"/>
          </a:xfrm>
          <a:prstGeom prst="rect">
            <a:avLst/>
          </a:prstGeom>
        </p:spPr>
      </p:pic>
      <p:pic>
        <p:nvPicPr>
          <p:cNvPr id="12" name="Kép 11" descr="A képen sor, szöveg, Diagram, diagram látható&#10;&#10;Automatikusan generált leírás">
            <a:extLst>
              <a:ext uri="{FF2B5EF4-FFF2-40B4-BE49-F238E27FC236}">
                <a16:creationId xmlns:a16="http://schemas.microsoft.com/office/drawing/2014/main" id="{68AC365F-1BC6-B611-239D-C1867D8142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19" y="1250302"/>
            <a:ext cx="10751362" cy="437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42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C9B2F7-33BF-5C12-61DB-2CD68A814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Klaszterezési</a:t>
            </a:r>
            <a:r>
              <a:rPr lang="hu-HU" b="1" dirty="0"/>
              <a:t> algoritmusok pontossága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38CB8B-7386-89C9-3034-99523D920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9F031-1307-194F-983A-F3429BE6CD69}" type="datetime1">
              <a:rPr lang="hu-HU" smtClean="0"/>
              <a:t>2025. 11. 05.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09457-CD5D-D0C2-3D41-F3729923E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11</a:t>
            </a:fld>
            <a:r>
              <a:rPr lang="hu-HU" dirty="0"/>
              <a:t>/14</a:t>
            </a:r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5F12DD7E-7C79-6A85-74B8-A3082BAE07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665" y="1455477"/>
            <a:ext cx="9134669" cy="4679006"/>
          </a:xfrm>
        </p:spPr>
      </p:pic>
    </p:spTree>
    <p:extLst>
      <p:ext uri="{BB962C8B-B14F-4D97-AF65-F5344CB8AC3E}">
        <p14:creationId xmlns:p14="http://schemas.microsoft.com/office/powerpoint/2010/main" val="2905355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9D9E66-EAAD-305B-FE2A-DC7CD4764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Klaszterezést</a:t>
            </a:r>
            <a:r>
              <a:rPr lang="hu-HU" b="1" dirty="0"/>
              <a:t> használó </a:t>
            </a:r>
            <a:r>
              <a:rPr lang="hu-HU" b="1" dirty="0" err="1"/>
              <a:t>retrieval</a:t>
            </a:r>
            <a:r>
              <a:rPr lang="hu-HU" b="1" dirty="0"/>
              <a:t> </a:t>
            </a:r>
            <a:r>
              <a:rPr lang="hu-HU" b="1" dirty="0" err="1"/>
              <a:t>pipeline</a:t>
            </a:r>
            <a:r>
              <a:rPr lang="hu-HU" b="1" dirty="0"/>
              <a:t> eredményei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F3B992D-1AB5-B0AB-3BB0-71AD28F8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789548-D724-1F48-B49D-E29266C4BD81}" type="datetime1">
              <a:rPr lang="hu-HU" smtClean="0"/>
              <a:t>2025. 11. 05.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21768A6-17E9-2E12-197F-2D3C9597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12</a:t>
            </a:fld>
            <a:r>
              <a:rPr lang="hu-HU"/>
              <a:t>/14</a:t>
            </a:r>
            <a:endParaRPr lang="hu-HU" dirty="0"/>
          </a:p>
        </p:txBody>
      </p:sp>
      <p:pic>
        <p:nvPicPr>
          <p:cNvPr id="13" name="Tartalom helye 12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F25E98A0-C7E0-6A89-57CF-A916F2E38D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721" y="1676350"/>
            <a:ext cx="11296557" cy="4680000"/>
          </a:xfrm>
        </p:spPr>
      </p:pic>
      <p:pic>
        <p:nvPicPr>
          <p:cNvPr id="16" name="Kép 15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4D3C8CA0-7AB4-A3A2-A64C-2B4A94C2BB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725" y="1690688"/>
            <a:ext cx="11296553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27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CAF592-6D95-A38C-AFF9-3B09227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Klaszterezést</a:t>
            </a:r>
            <a:r>
              <a:rPr lang="hu-HU" b="1" dirty="0"/>
              <a:t> használó </a:t>
            </a:r>
            <a:r>
              <a:rPr lang="hu-HU" b="1" dirty="0" err="1"/>
              <a:t>retrieval</a:t>
            </a:r>
            <a:r>
              <a:rPr lang="hu-HU" b="1" dirty="0"/>
              <a:t> </a:t>
            </a:r>
            <a:r>
              <a:rPr lang="hu-HU" b="1" dirty="0" err="1"/>
              <a:t>pipeline</a:t>
            </a:r>
            <a:r>
              <a:rPr lang="hu-HU" b="1" dirty="0"/>
              <a:t> eredményei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CAFC7B-C4DD-DE6F-672D-171841A8A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TODO: </a:t>
            </a:r>
            <a:r>
              <a:rPr lang="hu-HU" dirty="0" err="1"/>
              <a:t>retrieval</a:t>
            </a:r>
            <a:r>
              <a:rPr lang="hu-HU" dirty="0"/>
              <a:t> </a:t>
            </a:r>
            <a:r>
              <a:rPr lang="hu-HU" dirty="0" err="1"/>
              <a:t>times</a:t>
            </a:r>
            <a:r>
              <a:rPr lang="hu-HU" dirty="0"/>
              <a:t> </a:t>
            </a:r>
            <a:r>
              <a:rPr lang="hu-HU"/>
              <a:t>picture</a:t>
            </a:r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5BA1C54-996A-D494-3068-DCB25928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97F88-25D7-7E4E-91DA-57125152F457}" type="datetime1">
              <a:rPr lang="hu-HU" smtClean="0"/>
              <a:t>2025. 11. 05.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B8897DA-452A-EDD9-7DE7-3BE7261C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585287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C3197A-80D4-A704-6EA0-F8FFC373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hu-HU" sz="4800" b="1" dirty="0" err="1"/>
              <a:t>Retrieval</a:t>
            </a:r>
            <a:r>
              <a:rPr lang="hu-HU" sz="4800" b="1" dirty="0"/>
              <a:t> </a:t>
            </a:r>
            <a:r>
              <a:rPr lang="hu-HU" sz="4800" b="1" dirty="0" err="1"/>
              <a:t>pipeline</a:t>
            </a:r>
            <a:r>
              <a:rPr lang="hu-HU" sz="4800" b="1" dirty="0"/>
              <a:t> változó dokumentum halmazzal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D1DF59D-CAA9-F2E5-6393-4220ED324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97F88-25D7-7E4E-91DA-57125152F457}" type="datetime1">
              <a:rPr lang="hu-HU" smtClean="0"/>
              <a:t>2025. 11. 05.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6600EDC-9C01-C620-C471-730F3E68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14</a:t>
            </a:fld>
            <a:r>
              <a:rPr lang="hu-HU" dirty="0"/>
              <a:t>/14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67A0D2D-9C09-8E77-2B9B-FAA7BB687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79681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376977C-6CB9-779E-8D6F-49F6DE241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További haladás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40ABDB-9970-C351-2826-969E942BF5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Átfogó kiértékelése a két megközelítésnek:</a:t>
            </a:r>
          </a:p>
          <a:p>
            <a:pPr marL="1371600" lvl="2" indent="-457200">
              <a:buFont typeface="+mj-lt"/>
              <a:buAutoNum type="arabicPeriod"/>
            </a:pPr>
            <a:r>
              <a:rPr lang="hu-HU" sz="2200" dirty="0" err="1"/>
              <a:t>Centroidok</a:t>
            </a:r>
            <a:r>
              <a:rPr lang="hu-HU" sz="2200" dirty="0"/>
              <a:t> hasonlítása majd legjobb klaszterekben keresés </a:t>
            </a:r>
            <a:r>
              <a:rPr lang="hu-HU" sz="2200" dirty="0" err="1"/>
              <a:t>vs</a:t>
            </a:r>
            <a:r>
              <a:rPr lang="hu-HU" sz="2200" dirty="0"/>
              <a:t>. Összes </a:t>
            </a:r>
            <a:r>
              <a:rPr lang="hu-HU" sz="2200" dirty="0" err="1"/>
              <a:t>embedding-gel</a:t>
            </a:r>
            <a:r>
              <a:rPr lang="hu-HU" sz="2200" dirty="0"/>
              <a:t> számolni</a:t>
            </a:r>
          </a:p>
          <a:p>
            <a:pPr marL="1371600" lvl="2" indent="-457200">
              <a:buFont typeface="+mj-lt"/>
              <a:buAutoNum type="arabicPeriod"/>
            </a:pPr>
            <a:r>
              <a:rPr lang="hu-HU" sz="2200" dirty="0"/>
              <a:t>Dinamikusan változó dokumentumtér vizsgálata online </a:t>
            </a:r>
            <a:r>
              <a:rPr lang="hu-HU" sz="2200" dirty="0" err="1"/>
              <a:t>klaszterezéssel</a:t>
            </a:r>
            <a:endParaRPr lang="hu-HU" sz="2200" dirty="0"/>
          </a:p>
          <a:p>
            <a:r>
              <a:rPr lang="hu-HU" sz="2200" dirty="0"/>
              <a:t>Esetleg </a:t>
            </a:r>
            <a:r>
              <a:rPr lang="hu-HU" sz="2200" dirty="0" err="1"/>
              <a:t>vsi</a:t>
            </a:r>
            <a:r>
              <a:rPr lang="hu-HU" sz="2200" dirty="0"/>
              <a:t> táblák kipróbálása és használata online </a:t>
            </a:r>
            <a:r>
              <a:rPr lang="hu-HU" sz="2200" dirty="0" err="1"/>
              <a:t>klaszterezéssel</a:t>
            </a:r>
            <a:endParaRPr lang="hu-HU" sz="2200" dirty="0"/>
          </a:p>
          <a:p>
            <a:pPr marL="1371600" lvl="2" indent="-457200">
              <a:buFont typeface="+mj-lt"/>
              <a:buAutoNum type="arabicPeriod"/>
            </a:pPr>
            <a:endParaRPr lang="hu-HU" sz="22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4F55404-988E-AC28-7C28-9190089708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6BDB9A-E5F6-D843-9EFC-7C31F2021ACF}" type="datetime1">
              <a:rPr lang="hu-HU" smtClean="0"/>
              <a:pPr>
                <a:spcAft>
                  <a:spcPts val="600"/>
                </a:spcAft>
              </a:pPr>
              <a:t>2025. 11. 05.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2456EEB-17BA-B0B0-C488-EDBB27193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15</a:t>
            </a:fld>
            <a:r>
              <a:rPr lang="hu-HU" dirty="0"/>
              <a:t>/14</a:t>
            </a:r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54068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236B3B0-4171-B5F7-E6F0-D915C7616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hu-HU" sz="6600" b="1" dirty="0"/>
              <a:t>Köszönöm szépen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6B977B9-1CBB-E874-326C-FA40AFC6D5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endParaRPr lang="hu-HU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92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242FBB-2962-2D0C-F440-AE52FF32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48F6325-171C-9526-86E2-566A20E5E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800" dirty="0"/>
              <a:t>[1] </a:t>
            </a:r>
            <a:r>
              <a:rPr lang="hu-HU" sz="1800" dirty="0" err="1"/>
              <a:t>Hariom</a:t>
            </a:r>
            <a:r>
              <a:rPr lang="hu-HU" sz="1800" dirty="0"/>
              <a:t> </a:t>
            </a:r>
            <a:r>
              <a:rPr lang="hu-HU" sz="1800" dirty="0" err="1"/>
              <a:t>Gautam</a:t>
            </a:r>
            <a:r>
              <a:rPr lang="hu-HU" sz="1800" dirty="0"/>
              <a:t>, (2020.03.01.), Word </a:t>
            </a:r>
            <a:r>
              <a:rPr lang="hu-HU" sz="1800" dirty="0" err="1"/>
              <a:t>Embedding</a:t>
            </a:r>
            <a:r>
              <a:rPr lang="hu-HU" sz="1800" dirty="0"/>
              <a:t>: </a:t>
            </a:r>
            <a:r>
              <a:rPr lang="hu-HU" sz="1800" dirty="0" err="1"/>
              <a:t>Basics</a:t>
            </a:r>
            <a:r>
              <a:rPr lang="hu-HU" sz="1800" dirty="0"/>
              <a:t>, </a:t>
            </a:r>
            <a:r>
              <a:rPr lang="hu-HU" sz="1800" dirty="0" err="1"/>
              <a:t>Medium</a:t>
            </a:r>
            <a:r>
              <a:rPr lang="hu-HU" sz="1800" dirty="0"/>
              <a:t>, </a:t>
            </a:r>
            <a:r>
              <a:rPr lang="hu-HU" sz="1800" dirty="0">
                <a:hlinkClick r:id="rId2"/>
              </a:rPr>
              <a:t>https://medium.com/@hari4om/word-embedding-d816f643140</a:t>
            </a:r>
            <a:endParaRPr lang="hu-HU" sz="1800" dirty="0"/>
          </a:p>
          <a:p>
            <a:r>
              <a:rPr lang="hu-HU" sz="1800" dirty="0"/>
              <a:t>[2] </a:t>
            </a:r>
            <a:r>
              <a:rPr lang="hu-HU" sz="1800" u="sng" dirty="0" err="1"/>
              <a:t>Varun</a:t>
            </a:r>
            <a:r>
              <a:rPr lang="hu-HU" sz="1800" u="sng" dirty="0"/>
              <a:t>, </a:t>
            </a:r>
            <a:r>
              <a:rPr lang="hu-HU" sz="1800" dirty="0"/>
              <a:t>(2020.09.27.), </a:t>
            </a:r>
            <a:r>
              <a:rPr lang="hu-HU" sz="1800" dirty="0" err="1"/>
              <a:t>Cosine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: </a:t>
            </a:r>
            <a:r>
              <a:rPr lang="hu-HU" sz="1800" dirty="0" err="1"/>
              <a:t>How</a:t>
            </a:r>
            <a:r>
              <a:rPr lang="hu-HU" sz="1800" dirty="0"/>
              <a:t> </a:t>
            </a:r>
            <a:r>
              <a:rPr lang="hu-HU" sz="1800" dirty="0" err="1"/>
              <a:t>does</a:t>
            </a:r>
            <a:r>
              <a:rPr lang="hu-HU" sz="1800" dirty="0"/>
              <a:t> </a:t>
            </a:r>
            <a:r>
              <a:rPr lang="hu-HU" sz="1800" dirty="0" err="1"/>
              <a:t>it</a:t>
            </a:r>
            <a:r>
              <a:rPr lang="hu-HU" sz="1800" dirty="0"/>
              <a:t> </a:t>
            </a:r>
            <a:r>
              <a:rPr lang="hu-HU" sz="1800" dirty="0" err="1"/>
              <a:t>measure</a:t>
            </a:r>
            <a:r>
              <a:rPr lang="hu-HU" sz="1800" dirty="0"/>
              <a:t> </a:t>
            </a:r>
            <a:r>
              <a:rPr lang="hu-HU" sz="1800" dirty="0" err="1"/>
              <a:t>the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, </a:t>
            </a:r>
            <a:r>
              <a:rPr lang="hu-HU" sz="1800" dirty="0" err="1"/>
              <a:t>Maths</a:t>
            </a:r>
            <a:r>
              <a:rPr lang="hu-HU" sz="1800" dirty="0"/>
              <a:t> </a:t>
            </a:r>
            <a:r>
              <a:rPr lang="hu-HU" sz="1800" dirty="0" err="1"/>
              <a:t>behind</a:t>
            </a:r>
            <a:r>
              <a:rPr lang="hu-HU" sz="1800" dirty="0"/>
              <a:t> and </a:t>
            </a:r>
            <a:r>
              <a:rPr lang="hu-HU" sz="1800" dirty="0" err="1"/>
              <a:t>usage</a:t>
            </a:r>
            <a:r>
              <a:rPr lang="hu-HU" sz="1800" dirty="0"/>
              <a:t> in Python, towardsdatascience.com ,</a:t>
            </a:r>
            <a:r>
              <a:rPr lang="hu-HU" sz="1800" u="sng" dirty="0">
                <a:hlinkClick r:id="rId3"/>
              </a:rPr>
              <a:t>https://towardsdatascience.com/cosine-similarity-how-does-it-measure-the-similarity-maths-behind-and-usage-in-python-50ad30aad7db/</a:t>
            </a:r>
            <a:endParaRPr lang="hu-HU" sz="1800" dirty="0"/>
          </a:p>
          <a:p>
            <a:endParaRPr lang="hu-HU" sz="20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3AFDC56-C173-DBE4-4AB5-B1829C2CB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69F3F-A62C-A143-BDC3-1E7D9C7303DA}" type="datetime1">
              <a:rPr lang="hu-HU" smtClean="0"/>
              <a:t>2025. 11. 05.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8737DFA-5AEE-8E85-0BBC-53632C2E9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17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15096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1084</TotalTime>
  <Words>292</Words>
  <Application>Microsoft Macintosh PowerPoint</Application>
  <PresentationFormat>Szélesvásznú</PresentationFormat>
  <Paragraphs>89</Paragraphs>
  <Slides>17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Office-téma</vt:lpstr>
      <vt:lpstr>Klaszterezési stratégiák alkalmazása RAG rendszerek hatékonyságának növelésére</vt:lpstr>
      <vt:lpstr>Retrieval Augmented Generation</vt:lpstr>
      <vt:lpstr>Adat előfeldolgozás</vt:lpstr>
      <vt:lpstr>Szövegbeágyazás</vt:lpstr>
      <vt:lpstr>Hasonlóság mérési technikák</vt:lpstr>
      <vt:lpstr>Javasolt RAG-folyamat</vt:lpstr>
      <vt:lpstr>Klaszterezési módszerek a pipeline-ban</vt:lpstr>
      <vt:lpstr>Dinamikusan változó dokumentumtér kezelése</vt:lpstr>
      <vt:lpstr>Online KMeans algoritmusom</vt:lpstr>
      <vt:lpstr>Klaszterezési algoritmusok futásideje</vt:lpstr>
      <vt:lpstr>Klaszterezési algoritmusok pontossága</vt:lpstr>
      <vt:lpstr>Klaszterezést használó retrieval pipeline eredményei</vt:lpstr>
      <vt:lpstr>Klaszterezést használó retrieval pipeline eredményei</vt:lpstr>
      <vt:lpstr>Retrieval pipeline változó dokumentum halmazzal</vt:lpstr>
      <vt:lpstr>További haladás</vt:lpstr>
      <vt:lpstr>Köszönöm szépen a figyelmet!</vt:lpstr>
      <vt:lpstr>Forrásjegyzék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FIXED-TERM Czotter Benedek (ME/ECO1-HU)</dc:creator>
  <cp:lastModifiedBy>Benedek Czotter</cp:lastModifiedBy>
  <cp:revision>71</cp:revision>
  <dcterms:created xsi:type="dcterms:W3CDTF">2025-10-16T06:59:48Z</dcterms:created>
  <dcterms:modified xsi:type="dcterms:W3CDTF">2025-11-05T21:50:03Z</dcterms:modified>
</cp:coreProperties>
</file>