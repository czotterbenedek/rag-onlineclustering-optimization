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3" r:id="rId6"/>
    <p:sldId id="262" r:id="rId7"/>
    <p:sldId id="261" r:id="rId8"/>
    <p:sldId id="264" r:id="rId9"/>
    <p:sldId id="271" r:id="rId10"/>
    <p:sldId id="273" r:id="rId11"/>
    <p:sldId id="265" r:id="rId12"/>
    <p:sldId id="274" r:id="rId13"/>
    <p:sldId id="266" r:id="rId14"/>
    <p:sldId id="275" r:id="rId15"/>
    <p:sldId id="267" r:id="rId16"/>
    <p:sldId id="272" r:id="rId17"/>
    <p:sldId id="270" r:id="rId18"/>
    <p:sldId id="276" r:id="rId19"/>
    <p:sldId id="277" r:id="rId20"/>
    <p:sldId id="278" r:id="rId21"/>
    <p:sldId id="279" r:id="rId22"/>
    <p:sldId id="260" r:id="rId2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89" autoAdjust="0"/>
    <p:restoredTop sz="68787"/>
  </p:normalViewPr>
  <p:slideViewPr>
    <p:cSldViewPr snapToGrid="0">
      <p:cViewPr varScale="1">
        <p:scale>
          <a:sx n="77" d="100"/>
          <a:sy n="77" d="100"/>
        </p:scale>
        <p:origin x="19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2025. 11. 09.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endParaRPr lang="hu-HU" sz="1600" dirty="0"/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‚</a:t>
            </a:r>
            <a:r>
              <a:rPr lang="hu-HU" sz="1600" dirty="0" err="1"/>
              <a:t>Klaszterezési</a:t>
            </a:r>
            <a:r>
              <a:rPr lang="hu-HU" sz="1600" dirty="0"/>
              <a:t> stratégiák RAG rendszerek hatékonyságának növelésére'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RAG, azaz </a:t>
            </a:r>
            <a:r>
              <a:rPr lang="hu-HU" sz="2400" dirty="0" err="1"/>
              <a:t>Retrieval</a:t>
            </a:r>
            <a:r>
              <a:rPr lang="hu-HU" sz="2400" dirty="0"/>
              <a:t> </a:t>
            </a:r>
            <a:r>
              <a:rPr lang="hu-HU" sz="2400" dirty="0" err="1"/>
              <a:t>Augmented</a:t>
            </a:r>
            <a:r>
              <a:rPr lang="hu-HU" sz="2400" dirty="0"/>
              <a:t> </a:t>
            </a:r>
            <a:r>
              <a:rPr lang="hu-HU" sz="2400" dirty="0" err="1"/>
              <a:t>Generation</a:t>
            </a:r>
            <a:r>
              <a:rPr lang="hu-HU" sz="2400" dirty="0"/>
              <a:t>.</a:t>
            </a:r>
            <a:endParaRPr lang="hu-HU" sz="16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RAG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kerülne,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vektor adatbázisban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gyakoribb, így munkám során én is ezt alkalmaztam.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 Ez egy nagyon gyors keresés, mert mondjuk 10 millió vektor helyett csak 500 </a:t>
            </a:r>
            <a:r>
              <a:rPr lang="hu-HU" dirty="0" err="1"/>
              <a:t>centroidot</a:t>
            </a:r>
            <a:r>
              <a:rPr lang="hu-HU" dirty="0"/>
              <a:t> kell vizsgálni.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1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</a:t>
            </a:r>
            <a:r>
              <a:rPr lang="hu-HU" b="1" dirty="0"/>
              <a:t>Fontos kihívás </a:t>
            </a:r>
            <a:r>
              <a:rPr lang="hu-HU" dirty="0"/>
              <a:t>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’ beérkezését követően, megkeressük a legjobb klasztereket, majd azokon belül a legjobb szövegrészeket.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Annak érdekében hogy hatékonyan tudjuk kezelni az új adatokat anélkül, hogy minden alkalommal újra kellene futtatni a teljes </a:t>
            </a:r>
            <a:r>
              <a:rPr lang="hu-HU" dirty="0" err="1"/>
              <a:t>klaszterezést</a:t>
            </a:r>
            <a:r>
              <a:rPr lang="hu-HU" dirty="0"/>
              <a:t>.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súlyozott átlagolással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750 majd 1000 minta hozzáadásával az algoritmus fokozatosan módosítja' a klaszterközéppontokat.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A 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futásideje, mint látható sokkal lassabb mint a másik kettő algoritmus.</a:t>
            </a:r>
          </a:p>
          <a:p>
            <a:r>
              <a:rPr lang="hu-HU" dirty="0"/>
              <a:t>Szaggatott vonal 384D, másik pedig 1024D</a:t>
            </a:r>
          </a:p>
          <a:p>
            <a:endParaRPr lang="hu-HU" dirty="0"/>
          </a:p>
          <a:p>
            <a:r>
              <a:rPr lang="hu-HU" dirty="0"/>
              <a:t>Az alsó ábra ugyanez, csak kinagyítva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sokkal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dolgozatban </a:t>
            </a:r>
            <a:r>
              <a:rPr lang="hu-HU" dirty="0" err="1"/>
              <a:t>KMeans</a:t>
            </a:r>
            <a:r>
              <a:rPr lang="hu-HU" dirty="0"/>
              <a:t>, </a:t>
            </a:r>
            <a:r>
              <a:rPr lang="hu-HU" dirty="0" err="1"/>
              <a:t>MiniBatchKMeans</a:t>
            </a:r>
            <a:r>
              <a:rPr lang="hu-HU" dirty="0"/>
              <a:t> esetén </a:t>
            </a:r>
            <a:r>
              <a:rPr lang="hu-HU" dirty="0" err="1"/>
              <a:t>n_init</a:t>
            </a:r>
            <a:r>
              <a:rPr lang="hu-HU" dirty="0"/>
              <a:t>=10 volt, hogy a stabil és pontos </a:t>
            </a:r>
            <a:r>
              <a:rPr lang="hu-HU" dirty="0" err="1"/>
              <a:t>klaszterezést</a:t>
            </a:r>
            <a:r>
              <a:rPr lang="hu-HU" dirty="0"/>
              <a:t> adjanak.</a:t>
            </a:r>
          </a:p>
          <a:p>
            <a:r>
              <a:rPr lang="hu-HU" dirty="0"/>
              <a:t>Ezt most </a:t>
            </a:r>
            <a:r>
              <a:rPr lang="hu-HU" dirty="0" err="1"/>
              <a:t>újraszámoltam</a:t>
            </a:r>
            <a:r>
              <a:rPr lang="hu-HU" dirty="0"/>
              <a:t> </a:t>
            </a:r>
            <a:r>
              <a:rPr lang="hu-HU" dirty="0" err="1"/>
              <a:t>n_init</a:t>
            </a:r>
            <a:r>
              <a:rPr lang="hu-HU" dirty="0"/>
              <a:t>=„</a:t>
            </a:r>
            <a:r>
              <a:rPr lang="hu-HU" dirty="0" err="1"/>
              <a:t>auto</a:t>
            </a:r>
            <a:r>
              <a:rPr lang="hu-HU" dirty="0"/>
              <a:t>”-</a:t>
            </a:r>
            <a:r>
              <a:rPr lang="hu-HU" dirty="0" err="1"/>
              <a:t>val</a:t>
            </a:r>
            <a:r>
              <a:rPr lang="hu-HU" dirty="0"/>
              <a:t>, ez van a dián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különböző szórás mellett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teljesítménye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 err="1"/>
              <a:t>MiniBatchKMeans</a:t>
            </a:r>
            <a:r>
              <a:rPr lang="hu-HU" dirty="0"/>
              <a:t> gyenge, ha sok klaszter és magas dimenziójú adatok vannak, mert a kis minibatchek nem reprezentálják megfelelően az összes klasztert, így a </a:t>
            </a:r>
            <a:r>
              <a:rPr lang="hu-HU" b="1" dirty="0" err="1"/>
              <a:t>centroidok</a:t>
            </a:r>
            <a:r>
              <a:rPr lang="hu-HU" b="1" dirty="0"/>
              <a:t> instabilan frissülnek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megtaláljam a helyes választ tartalmazó szövegrészletet.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gráfalapú közelítő keresés</a:t>
            </a: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 a tudásbázishoz.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a </a:t>
            </a:r>
            <a:r>
              <a:rPr lang="hu-HU" dirty="0" err="1"/>
              <a:t>klaszterezés</a:t>
            </a:r>
            <a:r>
              <a:rPr lang="hu-HU" dirty="0"/>
              <a:t> frissítése.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maradnak, így teljesen alkalmasak streaming környezetben való használatra.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egy hatékony megoldást nyújt.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alkalmas az újonnan érkező adatpontok gyors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Bebizonyítottuk,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minimálisan gyengébb pontosságot nyújt jelentősen gyorsabb keresési idő mellett.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szeretném megvalósítani az </a:t>
            </a:r>
            <a:r>
              <a:rPr lang="hu-HU" dirty="0" err="1"/>
              <a:t>OnlineKMEans</a:t>
            </a:r>
            <a:r>
              <a:rPr lang="hu-HU" dirty="0"/>
              <a:t> egy olyan új funkcióját, hogy a már meglévő klasztereket ne csak összevonni tudja, hanem felbontani is ha a klaszterek szórása túlságosan megnő.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És várom 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15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2025. 11. 09.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2025. 11. 09.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2025. 11. 09.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2025. 11. 09.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2025. 11. 09.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2025. 11. 09.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2025. 11. 09.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ari4om/word-embedding-d816f643140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48550/arXiv.1606.05250" TargetMode="External"/><Relationship Id="rId4" Type="http://schemas.openxmlformats.org/officeDocument/2006/relationships/hyperlink" Target="https://towardsdatascience.com/cosine-similarity-how-does-it-measure-the-similarity-maths-behind-and-usage-in-python-50ad30aad7d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2025. 11. 09.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/22</a:t>
            </a:r>
          </a:p>
        </p:txBody>
      </p:sp>
      <p:pic>
        <p:nvPicPr>
          <p:cNvPr id="8" name="Tartalom helye 7" descr="A képen képernyőkép, diagram, tervezés látható&#10;&#10;Automatikusan generált leírás">
            <a:extLst>
              <a:ext uri="{FF2B5EF4-FFF2-40B4-BE49-F238E27FC236}">
                <a16:creationId xmlns:a16="http://schemas.microsoft.com/office/drawing/2014/main" id="{E043B924-4C80-516D-1A7B-4465CF443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1" y="2276108"/>
            <a:ext cx="11887200" cy="3471104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2025. 11. 09.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2352457"/>
            <a:ext cx="3451902" cy="123048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2E1FD49-5445-467A-8611-01B9A39D2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298" y="4109778"/>
            <a:ext cx="2225404" cy="1106688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2025. 11. 09.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6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A9ED6514-68CD-D91D-24B7-55E20E55B3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0" y="2236003"/>
            <a:ext cx="11945522" cy="4001751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2025. 11. 09.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r>
              <a:rPr lang="en-US" dirty="0">
                <a:solidFill>
                  <a:schemeClr val="tx1">
                    <a:tint val="75000"/>
                  </a:schemeClr>
                </a:solidFill>
              </a:rPr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r>
              <a:rPr lang="hu-HU" sz="1800" dirty="0"/>
              <a:t>Függ a beérkező adatok sorrendjétől</a:t>
            </a:r>
          </a:p>
          <a:p>
            <a:pPr lvl="1"/>
            <a:endParaRPr lang="hu-HU" sz="1400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A26DC97-398A-863A-3107-51A57D9E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763" y="3789802"/>
            <a:ext cx="3499706" cy="699941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8</a:t>
            </a:fld>
            <a:r>
              <a:rPr lang="hu-HU" dirty="0"/>
              <a:t>/22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</a:t>
            </a:r>
            <a:r>
              <a:rPr lang="hu-HU" sz="4100" b="1" dirty="0" err="1"/>
              <a:t>OnlineKMeans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9</a:t>
            </a:fld>
            <a:r>
              <a:rPr lang="hu-HU" dirty="0"/>
              <a:t>/22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3C25C462-0493-14FC-7AFB-DF71D4745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6A99B93-22A6-9F32-8B40-D36FE50F5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95" y="1659144"/>
            <a:ext cx="10857410" cy="468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/22</a:t>
            </a:r>
          </a:p>
        </p:txBody>
      </p:sp>
      <p:pic>
        <p:nvPicPr>
          <p:cNvPr id="6" name="Kép 5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BB4248E2-CC96-162D-3729-453F0C00DF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414" y="1464057"/>
            <a:ext cx="11563172" cy="4580482"/>
          </a:xfrm>
          <a:prstGeom prst="rect">
            <a:avLst/>
          </a:prstGeom>
        </p:spPr>
      </p:pic>
      <p:pic>
        <p:nvPicPr>
          <p:cNvPr id="8" name="Kép 7" descr="A képen sor, szöveg, Diagram, képernyőkép látható&#10;&#10;Automatikusan generált leírás">
            <a:extLst>
              <a:ext uri="{FF2B5EF4-FFF2-40B4-BE49-F238E27FC236}">
                <a16:creationId xmlns:a16="http://schemas.microsoft.com/office/drawing/2014/main" id="{464B8039-9448-7A08-1707-F1A1CBA2BA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650" y="1465339"/>
            <a:ext cx="11559936" cy="457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Pontossági mérés beállításai:</a:t>
            </a:r>
          </a:p>
          <a:p>
            <a:pPr lvl="1"/>
            <a:r>
              <a:rPr lang="hu-HU" dirty="0"/>
              <a:t>Szintetikus adathalmaz:</a:t>
            </a:r>
          </a:p>
          <a:p>
            <a:pPr lvl="2"/>
            <a:r>
              <a:rPr lang="hu-HU" dirty="0"/>
              <a:t>500 dimenziós vektorok</a:t>
            </a:r>
          </a:p>
          <a:p>
            <a:pPr lvl="2"/>
            <a:r>
              <a:rPr lang="hu-HU" dirty="0"/>
              <a:t>10.000 adatpont</a:t>
            </a:r>
          </a:p>
          <a:p>
            <a:pPr lvl="2"/>
            <a:r>
              <a:rPr lang="hu-HU" dirty="0"/>
              <a:t>200, 300, 400, 500, 800 klaszter</a:t>
            </a:r>
          </a:p>
          <a:p>
            <a:pPr lvl="2"/>
            <a:r>
              <a:rPr lang="hu-HU" dirty="0"/>
              <a:t>Minden klaszterszámra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  <a:endParaRPr lang="hu-HU" dirty="0"/>
          </a:p>
          <a:p>
            <a:pPr lvl="2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/22</a:t>
            </a:r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5F12DD7E-7C79-6A85-74B8-A3082BAE07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665" y="1455477"/>
            <a:ext cx="9134669" cy="4679006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vektort.</a:t>
            </a:r>
          </a:p>
          <a:p>
            <a:pPr lvl="1"/>
            <a:r>
              <a:rPr lang="hu-HU" dirty="0"/>
              <a:t>Kérdések 15%-ára nincs válasz.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 dirty="0"/>
              <a:t>/22</a:t>
            </a:r>
          </a:p>
        </p:txBody>
      </p:sp>
      <p:pic>
        <p:nvPicPr>
          <p:cNvPr id="13" name="Tartalom helye 12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25E98A0-C7E0-6A89-57CF-A916F2E38D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1" y="1676350"/>
            <a:ext cx="11296557" cy="4680000"/>
          </a:xfrm>
        </p:spPr>
      </p:pic>
      <p:pic>
        <p:nvPicPr>
          <p:cNvPr id="16" name="Kép 15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4D3C8CA0-7AB4-A3A2-A64C-2B4A94C2B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5" y="1690688"/>
            <a:ext cx="11296553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/22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r>
              <a:rPr lang="hu-HU" dirty="0"/>
              <a:t>/22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r>
              <a:rPr lang="hu-HU" dirty="0"/>
              <a:t>/22</a:t>
            </a:r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7316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a tudásbázisba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20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7919A298-7873-EB49-4BA4-525F1112A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80" y="2366712"/>
            <a:ext cx="11447240" cy="3834826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3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4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5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2346</TotalTime>
  <Words>2249</Words>
  <Application>Microsoft Macintosh PowerPoint</Application>
  <PresentationFormat>Szélesvásznú</PresentationFormat>
  <Paragraphs>299</Paragraphs>
  <Slides>22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Times New Roman</vt:lpstr>
      <vt:lpstr>Office-téma</vt:lpstr>
      <vt:lpstr>Klaszterezési stratégiák alkalmazása RAG rendszerek hatékonyságának növelésére</vt:lpstr>
      <vt:lpstr>Retrieval Augmented Generation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300</cp:revision>
  <cp:lastPrinted>2025-11-09T09:32:58Z</cp:lastPrinted>
  <dcterms:created xsi:type="dcterms:W3CDTF">2025-10-16T06:59:48Z</dcterms:created>
  <dcterms:modified xsi:type="dcterms:W3CDTF">2025-11-09T20:21:45Z</dcterms:modified>
</cp:coreProperties>
</file>